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68" r:id="rId15"/>
    <p:sldId id="269" r:id="rId16"/>
    <p:sldId id="270" r:id="rId17"/>
    <p:sldId id="271" r:id="rId18"/>
    <p:sldId id="272" r:id="rId19"/>
  </p:sldIdLst>
  <p:sldSz cx="14630400" cy="10972800"/>
  <p:notesSz cx="10972800" cy="146304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Roboto" panose="02000000000000000000" pitchFamily="2" charset="0"/>
      <p:regular r:id="rId29"/>
      <p:bold r:id="rId30"/>
      <p:italic r:id="rId31"/>
      <p:boldItalic r:id="rId32"/>
    </p:embeddedFont>
    <p:embeddedFont>
      <p:font typeface="Roboto Mono Medium" panose="020F0502020204030204" pitchFamily="34" charset="0"/>
      <p:regular r:id="rId33"/>
      <p:italic r:id="rId34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6" d="100"/>
          <a:sy n="76" d="100"/>
        </p:scale>
        <p:origin x="1288" y="2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224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10972800"/>
          </a:xfrm>
          <a:prstGeom prst="rect">
            <a:avLst/>
          </a:prstGeom>
          <a:solidFill>
            <a:srgbClr val="21212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5.png"/><Relationship Id="rId11" Type="http://schemas.openxmlformats.org/officeDocument/2006/relationships/image" Target="../media/image30.svg"/><Relationship Id="rId5" Type="http://schemas.openxmlformats.org/officeDocument/2006/relationships/image" Target="../media/image24.sv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10" Type="http://schemas.openxmlformats.org/officeDocument/2006/relationships/image" Target="../media/image55.svg"/><Relationship Id="rId4" Type="http://schemas.openxmlformats.org/officeDocument/2006/relationships/image" Target="../media/image49.svg"/><Relationship Id="rId9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10972800"/>
          </a:xfrm>
          <a:prstGeom prst="rect">
            <a:avLst/>
          </a:prstGeom>
          <a:solidFill>
            <a:srgbClr val="404040"/>
          </a:solidFill>
          <a:ln/>
        </p:spPr>
      </p:sp>
      <p:sp>
        <p:nvSpPr>
          <p:cNvPr id="4" name="Shape 1"/>
          <p:cNvSpPr/>
          <p:nvPr/>
        </p:nvSpPr>
        <p:spPr>
          <a:xfrm>
            <a:off x="793790" y="2806898"/>
            <a:ext cx="2774752" cy="373142"/>
          </a:xfrm>
          <a:prstGeom prst="roundRect">
            <a:avLst>
              <a:gd name="adj" fmla="val 6383"/>
            </a:avLst>
          </a:prstGeom>
          <a:solidFill>
            <a:srgbClr val="3D4D00"/>
          </a:solidFill>
          <a:ln/>
        </p:spPr>
      </p:sp>
      <p:sp>
        <p:nvSpPr>
          <p:cNvPr id="5" name="Text 2"/>
          <p:cNvSpPr/>
          <p:nvPr/>
        </p:nvSpPr>
        <p:spPr>
          <a:xfrm>
            <a:off x="912852" y="2866430"/>
            <a:ext cx="253662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КУРСОВ</a:t>
            </a:r>
            <a:r>
              <a:rPr lang="ru-RU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ОЙ ПРОЕКТ</a:t>
            </a:r>
            <a:r>
              <a:rPr lang="en-US" sz="12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· КУБГУ · 2026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93790" y="3259336"/>
            <a:ext cx="7556421" cy="2480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 err="1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Разработка</a:t>
            </a:r>
            <a:r>
              <a:rPr lang="ru-RU" sz="3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</a:t>
            </a:r>
            <a:r>
              <a:rPr lang="en-US" sz="3900" dirty="0" err="1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чат-агрегатора</a:t>
            </a:r>
            <a:r>
              <a:rPr lang="en-US" sz="3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с интеграцией AI-чат-бота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793790" y="6037302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Платформа </a:t>
            </a:r>
            <a:r>
              <a:rPr lang="en-US" sz="15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TANTAL</a:t>
            </a: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веб-приложение для агрегации входящих сообщений из WhatsApp, Telegram и Instagram с интегрированным AI-чат-ботом и операторским интерфейсом в реальном времени.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7213163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Выполнил: </a:t>
            </a:r>
            <a:r>
              <a:rPr lang="en-US" sz="15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А.С. </a:t>
            </a:r>
            <a:r>
              <a:rPr lang="en-US" sz="1550" b="1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Савченко</a:t>
            </a:r>
            <a:endParaRPr lang="ru-RU" sz="1550" b="1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Научный</a:t>
            </a: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руководитель: </a:t>
            </a:r>
            <a:r>
              <a:rPr lang="en-US" sz="15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канд. физ.–мат. наук, доц. О.В. </a:t>
            </a:r>
            <a:r>
              <a:rPr lang="en-US" sz="1550" b="1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Гаркуша</a:t>
            </a:r>
            <a:endParaRPr lang="ru-RU" sz="1550" b="1" dirty="0">
              <a:solidFill>
                <a:srgbClr val="E5E0DF"/>
              </a:solidFill>
              <a:latin typeface="Roboto" pitchFamily="34" charset="0"/>
              <a:ea typeface="Roboto" pitchFamily="34" charset="-122"/>
              <a:cs typeface="Roboto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Краснодар</a:t>
            </a: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2026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10972800"/>
          </a:xfrm>
          <a:prstGeom prst="rect">
            <a:avLst/>
          </a:prstGeom>
          <a:solidFill>
            <a:srgbClr val="404040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3179" y="1520309"/>
            <a:ext cx="5288042" cy="7932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65972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Актуальность и проблематика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3790" y="219753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Малый и средний бизнес, работающий с клиентами через мессенджеры, сталкивается с рядом взаимосвязанных проблем: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93790" y="3055858"/>
            <a:ext cx="7556421" cy="1824276"/>
          </a:xfrm>
          <a:prstGeom prst="roundRect">
            <a:avLst>
              <a:gd name="adj" fmla="val 6015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70930" y="3055858"/>
            <a:ext cx="91440" cy="1824276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8" name="Text 5"/>
          <p:cNvSpPr/>
          <p:nvPr/>
        </p:nvSpPr>
        <p:spPr>
          <a:xfrm>
            <a:off x="1083588" y="3277076"/>
            <a:ext cx="28278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Разрозненные каналы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83588" y="3706297"/>
            <a:ext cx="704540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Клиенты пишут через WhatsApp, Telegram и Instagram — операторы вынуждены переключаться между приложениями, теряя часть обращений.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93790" y="5078492"/>
            <a:ext cx="7556421" cy="1506736"/>
          </a:xfrm>
          <a:prstGeom prst="roundRect">
            <a:avLst>
              <a:gd name="adj" fmla="val 7282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0930" y="5078492"/>
            <a:ext cx="91440" cy="1506736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12" name="Text 9"/>
          <p:cNvSpPr/>
          <p:nvPr/>
        </p:nvSpPr>
        <p:spPr>
          <a:xfrm>
            <a:off x="1083588" y="5299710"/>
            <a:ext cx="267902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Однотипные вопросы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083588" y="5728930"/>
            <a:ext cx="70454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Значительная доля входящих сообщений — стоимость, расписание, адрес. Ручная обработка занимает рабочее время операторов.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793790" y="6783586"/>
            <a:ext cx="7556421" cy="1506736"/>
          </a:xfrm>
          <a:prstGeom prst="roundRect">
            <a:avLst>
              <a:gd name="adj" fmla="val 7282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0930" y="6783586"/>
            <a:ext cx="91440" cy="1506736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16" name="Text 13"/>
          <p:cNvSpPr/>
          <p:nvPr/>
        </p:nvSpPr>
        <p:spPr>
          <a:xfrm>
            <a:off x="1083588" y="7004804"/>
            <a:ext cx="267902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Отсутствие истории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083588" y="7434024"/>
            <a:ext cx="704540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Без единой системы учёта невозможно отследить историю переписки и передать диалог между операторами.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793790" y="8488680"/>
            <a:ext cx="7556421" cy="1824276"/>
          </a:xfrm>
          <a:prstGeom prst="roundRect">
            <a:avLst>
              <a:gd name="adj" fmla="val 6015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0930" y="8488680"/>
            <a:ext cx="91440" cy="1824276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20" name="Text 17"/>
          <p:cNvSpPr/>
          <p:nvPr/>
        </p:nvSpPr>
        <p:spPr>
          <a:xfrm>
            <a:off x="1083588" y="8709898"/>
            <a:ext cx="267902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Избыточность рынка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1083588" y="9139118"/>
            <a:ext cx="704540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AmoCRM и Bitrix24 избыточны по функциональности и стоимости. Открытые платформы требуют сложной настройки и не имеют встроенной AI-автоматизации.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8183"/>
            <a:ext cx="5313045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Цель и задачи проекта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672346" y="1440299"/>
            <a:ext cx="5885736" cy="8834199"/>
          </a:xfrm>
          <a:prstGeom prst="roundRect">
            <a:avLst>
              <a:gd name="adj" fmla="val 430"/>
            </a:avLst>
          </a:prstGeom>
          <a:solidFill>
            <a:srgbClr val="DCFF50"/>
          </a:solidFill>
          <a:ln/>
        </p:spPr>
      </p:sp>
      <p:sp>
        <p:nvSpPr>
          <p:cNvPr id="4" name="Text 2"/>
          <p:cNvSpPr/>
          <p:nvPr/>
        </p:nvSpPr>
        <p:spPr>
          <a:xfrm>
            <a:off x="840938" y="1583650"/>
            <a:ext cx="5548551" cy="727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Основная цель:</a:t>
            </a:r>
            <a:endParaRPr lang="en-US" sz="4550" dirty="0"/>
          </a:p>
        </p:txBody>
      </p:sp>
      <p:sp>
        <p:nvSpPr>
          <p:cNvPr id="5" name="Text 3"/>
          <p:cNvSpPr/>
          <p:nvPr/>
        </p:nvSpPr>
        <p:spPr>
          <a:xfrm>
            <a:off x="840938" y="2454473"/>
            <a:ext cx="554855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40938" y="2847499"/>
            <a:ext cx="5548551" cy="4638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Разработка многоканальной веб-платформы, объединяющей входящие сообщения из </a:t>
            </a:r>
            <a:r>
              <a:rPr lang="en-US" sz="2650" b="1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WhatsApp, Telegram и Instagram</a:t>
            </a:r>
            <a:r>
              <a:rPr lang="en-US" sz="265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 в едином операторском интерфейсе с интегрированным AI-чат-ботом для автоматической обработки типовых обращений и механизмом передачи диалога живому оператору.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840938" y="7629763"/>
            <a:ext cx="554855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0938" y="8022788"/>
            <a:ext cx="5548551" cy="2108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На основе этой цели был создан соответствующий RoadMap: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338435" y="1601510"/>
            <a:ext cx="22860" cy="8284845"/>
          </a:xfrm>
          <a:prstGeom prst="roundRect">
            <a:avLst>
              <a:gd name="adj" fmla="val 110698"/>
            </a:avLst>
          </a:prstGeom>
          <a:solidFill>
            <a:srgbClr val="595959"/>
          </a:solidFill>
          <a:ln/>
        </p:spPr>
      </p:sp>
      <p:sp>
        <p:nvSpPr>
          <p:cNvPr id="10" name="Shape 8"/>
          <p:cNvSpPr/>
          <p:nvPr/>
        </p:nvSpPr>
        <p:spPr>
          <a:xfrm>
            <a:off x="10035421" y="1779865"/>
            <a:ext cx="337304" cy="22860"/>
          </a:xfrm>
          <a:prstGeom prst="roundRect">
            <a:avLst>
              <a:gd name="adj" fmla="val 110698"/>
            </a:avLst>
          </a:prstGeom>
          <a:solidFill>
            <a:srgbClr val="595959"/>
          </a:solidFill>
          <a:ln/>
        </p:spPr>
      </p:sp>
      <p:sp>
        <p:nvSpPr>
          <p:cNvPr id="11" name="Shape 9"/>
          <p:cNvSpPr/>
          <p:nvPr/>
        </p:nvSpPr>
        <p:spPr>
          <a:xfrm>
            <a:off x="10286643" y="1728073"/>
            <a:ext cx="126444" cy="126444"/>
          </a:xfrm>
          <a:prstGeom prst="roundRect">
            <a:avLst>
              <a:gd name="adj" fmla="val 361583"/>
            </a:avLst>
          </a:prstGeom>
          <a:solidFill>
            <a:srgbClr val="DCFF50"/>
          </a:solidFill>
          <a:ln/>
        </p:spPr>
      </p:sp>
      <p:sp>
        <p:nvSpPr>
          <p:cNvPr id="12" name="Text 10"/>
          <p:cNvSpPr/>
          <p:nvPr/>
        </p:nvSpPr>
        <p:spPr>
          <a:xfrm>
            <a:off x="6855738" y="1656278"/>
            <a:ext cx="2819400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Изучить API мессенджеров и принципы webhook-интеграций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327005" y="2741295"/>
            <a:ext cx="337304" cy="22860"/>
          </a:xfrm>
          <a:prstGeom prst="roundRect">
            <a:avLst>
              <a:gd name="adj" fmla="val 110698"/>
            </a:avLst>
          </a:prstGeom>
          <a:solidFill>
            <a:srgbClr val="59595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86643" y="2689503"/>
            <a:ext cx="126444" cy="126444"/>
          </a:xfrm>
          <a:prstGeom prst="roundRect">
            <a:avLst>
              <a:gd name="adj" fmla="val 361583"/>
            </a:avLst>
          </a:prstGeom>
          <a:solidFill>
            <a:srgbClr val="DCFF50"/>
          </a:solidFill>
          <a:ln/>
        </p:spPr>
      </p:sp>
      <p:sp>
        <p:nvSpPr>
          <p:cNvPr id="15" name="Text 13"/>
          <p:cNvSpPr/>
          <p:nvPr/>
        </p:nvSpPr>
        <p:spPr>
          <a:xfrm>
            <a:off x="11024592" y="2617708"/>
            <a:ext cx="2819519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Спроектировать БД и REST API (5 моделей)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035421" y="3586758"/>
            <a:ext cx="337304" cy="22860"/>
          </a:xfrm>
          <a:prstGeom prst="roundRect">
            <a:avLst>
              <a:gd name="adj" fmla="val 110698"/>
            </a:avLst>
          </a:prstGeom>
          <a:solidFill>
            <a:srgbClr val="595959"/>
          </a:solidFill>
          <a:ln/>
        </p:spPr>
      </p:sp>
      <p:sp>
        <p:nvSpPr>
          <p:cNvPr id="17" name="Shape 15"/>
          <p:cNvSpPr/>
          <p:nvPr/>
        </p:nvSpPr>
        <p:spPr>
          <a:xfrm>
            <a:off x="10286643" y="3534966"/>
            <a:ext cx="126444" cy="126444"/>
          </a:xfrm>
          <a:prstGeom prst="roundRect">
            <a:avLst>
              <a:gd name="adj" fmla="val 361583"/>
            </a:avLst>
          </a:prstGeom>
          <a:solidFill>
            <a:srgbClr val="DCFF5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5738" y="3463171"/>
            <a:ext cx="2819400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Реализовать бэкенд на FastAPI с JWT и CSRF-защитой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327005" y="4432340"/>
            <a:ext cx="337304" cy="22860"/>
          </a:xfrm>
          <a:prstGeom prst="roundRect">
            <a:avLst>
              <a:gd name="adj" fmla="val 110698"/>
            </a:avLst>
          </a:prstGeom>
          <a:solidFill>
            <a:srgbClr val="595959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86643" y="4380548"/>
            <a:ext cx="126444" cy="126444"/>
          </a:xfrm>
          <a:prstGeom prst="roundRect">
            <a:avLst>
              <a:gd name="adj" fmla="val 361583"/>
            </a:avLst>
          </a:prstGeom>
          <a:solidFill>
            <a:srgbClr val="DCFF50"/>
          </a:solidFill>
          <a:ln/>
        </p:spPr>
      </p:sp>
      <p:sp>
        <p:nvSpPr>
          <p:cNvPr id="21" name="Text 19"/>
          <p:cNvSpPr/>
          <p:nvPr/>
        </p:nvSpPr>
        <p:spPr>
          <a:xfrm>
            <a:off x="11024592" y="4308753"/>
            <a:ext cx="2819519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Реализовать Redis-буферизацию входящих сообщений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035421" y="5277922"/>
            <a:ext cx="337304" cy="22860"/>
          </a:xfrm>
          <a:prstGeom prst="roundRect">
            <a:avLst>
              <a:gd name="adj" fmla="val 110698"/>
            </a:avLst>
          </a:prstGeom>
          <a:solidFill>
            <a:srgbClr val="595959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86643" y="5226129"/>
            <a:ext cx="126444" cy="126444"/>
          </a:xfrm>
          <a:prstGeom prst="roundRect">
            <a:avLst>
              <a:gd name="adj" fmla="val 361583"/>
            </a:avLst>
          </a:prstGeom>
          <a:solidFill>
            <a:srgbClr val="DCFF5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5738" y="5154335"/>
            <a:ext cx="2819400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Разработать AI-чат-бота с интеграцией n8n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327005" y="6123503"/>
            <a:ext cx="337304" cy="22860"/>
          </a:xfrm>
          <a:prstGeom prst="roundRect">
            <a:avLst>
              <a:gd name="adj" fmla="val 110698"/>
            </a:avLst>
          </a:prstGeom>
          <a:solidFill>
            <a:srgbClr val="595959"/>
          </a:solidFill>
          <a:ln/>
        </p:spPr>
      </p:sp>
      <p:sp>
        <p:nvSpPr>
          <p:cNvPr id="26" name="Shape 24"/>
          <p:cNvSpPr/>
          <p:nvPr/>
        </p:nvSpPr>
        <p:spPr>
          <a:xfrm>
            <a:off x="10286643" y="6071711"/>
            <a:ext cx="126444" cy="126444"/>
          </a:xfrm>
          <a:prstGeom prst="roundRect">
            <a:avLst>
              <a:gd name="adj" fmla="val 361583"/>
            </a:avLst>
          </a:prstGeom>
          <a:solidFill>
            <a:srgbClr val="DCFF50"/>
          </a:solidFill>
          <a:ln/>
        </p:spPr>
      </p:sp>
      <p:sp>
        <p:nvSpPr>
          <p:cNvPr id="27" name="Text 25"/>
          <p:cNvSpPr/>
          <p:nvPr/>
        </p:nvSpPr>
        <p:spPr>
          <a:xfrm>
            <a:off x="11024592" y="5999917"/>
            <a:ext cx="2819519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Реализовать реалтайм-обновления через WebSocket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035421" y="6969085"/>
            <a:ext cx="337304" cy="22860"/>
          </a:xfrm>
          <a:prstGeom prst="roundRect">
            <a:avLst>
              <a:gd name="adj" fmla="val 110698"/>
            </a:avLst>
          </a:prstGeom>
          <a:solidFill>
            <a:srgbClr val="595959"/>
          </a:solidFill>
          <a:ln/>
        </p:spPr>
      </p:sp>
      <p:sp>
        <p:nvSpPr>
          <p:cNvPr id="29" name="Shape 27"/>
          <p:cNvSpPr/>
          <p:nvPr/>
        </p:nvSpPr>
        <p:spPr>
          <a:xfrm>
            <a:off x="10286643" y="6917293"/>
            <a:ext cx="126444" cy="126444"/>
          </a:xfrm>
          <a:prstGeom prst="roundRect">
            <a:avLst>
              <a:gd name="adj" fmla="val 361583"/>
            </a:avLst>
          </a:prstGeom>
          <a:solidFill>
            <a:srgbClr val="DCFF50"/>
          </a:solidFill>
          <a:ln/>
        </p:spPr>
      </p:sp>
      <p:sp>
        <p:nvSpPr>
          <p:cNvPr id="30" name="Text 28"/>
          <p:cNvSpPr/>
          <p:nvPr/>
        </p:nvSpPr>
        <p:spPr>
          <a:xfrm>
            <a:off x="6855738" y="6845498"/>
            <a:ext cx="2819400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Разработать React-фронтенд с трёхпанельным интерфейсом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327005" y="7814667"/>
            <a:ext cx="337304" cy="22860"/>
          </a:xfrm>
          <a:prstGeom prst="roundRect">
            <a:avLst>
              <a:gd name="adj" fmla="val 110698"/>
            </a:avLst>
          </a:prstGeom>
          <a:solidFill>
            <a:srgbClr val="595959"/>
          </a:solidFill>
          <a:ln/>
        </p:spPr>
      </p:sp>
      <p:sp>
        <p:nvSpPr>
          <p:cNvPr id="32" name="Shape 30"/>
          <p:cNvSpPr/>
          <p:nvPr/>
        </p:nvSpPr>
        <p:spPr>
          <a:xfrm>
            <a:off x="10286643" y="7762875"/>
            <a:ext cx="126444" cy="126444"/>
          </a:xfrm>
          <a:prstGeom prst="roundRect">
            <a:avLst>
              <a:gd name="adj" fmla="val 361583"/>
            </a:avLst>
          </a:prstGeom>
          <a:solidFill>
            <a:srgbClr val="DCFF50"/>
          </a:solidFill>
          <a:ln/>
        </p:spPr>
      </p:sp>
      <p:sp>
        <p:nvSpPr>
          <p:cNvPr id="33" name="Text 31"/>
          <p:cNvSpPr/>
          <p:nvPr/>
        </p:nvSpPr>
        <p:spPr>
          <a:xfrm>
            <a:off x="11024592" y="7691080"/>
            <a:ext cx="2819519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Настроить Docker Compose и продовое окружение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0035421" y="8660249"/>
            <a:ext cx="337304" cy="22860"/>
          </a:xfrm>
          <a:prstGeom prst="roundRect">
            <a:avLst>
              <a:gd name="adj" fmla="val 110698"/>
            </a:avLst>
          </a:prstGeom>
          <a:solidFill>
            <a:srgbClr val="595959"/>
          </a:solidFill>
          <a:ln/>
        </p:spPr>
      </p:sp>
      <p:sp>
        <p:nvSpPr>
          <p:cNvPr id="35" name="Shape 33"/>
          <p:cNvSpPr/>
          <p:nvPr/>
        </p:nvSpPr>
        <p:spPr>
          <a:xfrm>
            <a:off x="10286643" y="8608457"/>
            <a:ext cx="126444" cy="126444"/>
          </a:xfrm>
          <a:prstGeom prst="roundRect">
            <a:avLst>
              <a:gd name="adj" fmla="val 361583"/>
            </a:avLst>
          </a:prstGeom>
          <a:solidFill>
            <a:srgbClr val="DCFF50"/>
          </a:solidFill>
          <a:ln/>
        </p:spPr>
      </p:sp>
      <p:sp>
        <p:nvSpPr>
          <p:cNvPr id="36" name="Text 34"/>
          <p:cNvSpPr/>
          <p:nvPr/>
        </p:nvSpPr>
        <p:spPr>
          <a:xfrm>
            <a:off x="6855738" y="8536662"/>
            <a:ext cx="2819400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Подготовить материалы к защите курсового проекта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27058"/>
            <a:ext cx="7807285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Архитектура системы</a:t>
            </a:r>
            <a:endParaRPr lang="en-US" sz="5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640" y="2479715"/>
            <a:ext cx="10485120" cy="585216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640" y="2479715"/>
            <a:ext cx="10485120" cy="58521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8629531"/>
            <a:ext cx="13042821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Система состоит из </a:t>
            </a:r>
            <a:r>
              <a:rPr lang="en-US" sz="2300" b="1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 Docker-контейнеров</a:t>
            </a:r>
            <a:r>
              <a:rPr lang="en-US" sz="2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: PostgreSQL, Redis, бэкенд (FastAPI), фронтенд (Nginx + React) и n8n. Все компоненты независимы и масштабируются горизонтально без изменения остальных сервисов.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6955"/>
            <a:ext cx="8218170" cy="855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700"/>
              </a:lnSpc>
              <a:buNone/>
            </a:pPr>
            <a:r>
              <a:rPr lang="en-US" sz="53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Технологический стек</a:t>
            </a:r>
            <a:endParaRPr lang="en-US" sz="5350" dirty="0"/>
          </a:p>
        </p:txBody>
      </p:sp>
      <p:sp>
        <p:nvSpPr>
          <p:cNvPr id="3" name="Shape 1"/>
          <p:cNvSpPr/>
          <p:nvPr/>
        </p:nvSpPr>
        <p:spPr>
          <a:xfrm>
            <a:off x="793790" y="2733675"/>
            <a:ext cx="6279356" cy="5146119"/>
          </a:xfrm>
          <a:prstGeom prst="roundRect">
            <a:avLst>
              <a:gd name="adj" fmla="val 627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2867978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Компонент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4135636" y="2867978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Технология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9768" y="3525917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Язык бэкенда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4135636" y="3525917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 3.12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9768" y="4183856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Веб-фреймворк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135636" y="4183856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 0.110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99768" y="4841796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База данных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135636" y="4841796"/>
            <a:ext cx="2731532" cy="1190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16 + asyncpg + SQLAlchemy 2.0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9768" y="6293644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Кэш / буфер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4135636" y="6293644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Redis 7 + redis[hiredis]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9768" y="6951583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Оркестратор бота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135636" y="6951583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n8n (self-hosted)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7564874" y="2733675"/>
            <a:ext cx="6279356" cy="5146119"/>
          </a:xfrm>
          <a:prstGeom prst="roundRect">
            <a:avLst>
              <a:gd name="adj" fmla="val 57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0852" y="2867978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Компонент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906720" y="2867978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Технология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770852" y="3525917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Фронтенд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906720" y="3525917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18 + Vite 6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770852" y="4183856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Аутентификация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0906720" y="4183856"/>
            <a:ext cx="2731532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python-jose (JWT) + passlib[bcrypt]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770852" y="5238750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Инфраструктура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0906720" y="5238750"/>
            <a:ext cx="2731532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 + Docker Compose + Nginx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7770852" y="6293644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Контроль версий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10906720" y="6293644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 + GitHub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7770852" y="6951583"/>
            <a:ext cx="2731532" cy="3969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Среда разработки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0906720" y="6951583"/>
            <a:ext cx="2731532" cy="793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VS Code / PyCharm Community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793790" y="8326279"/>
            <a:ext cx="13042821" cy="1289566"/>
          </a:xfrm>
          <a:prstGeom prst="roundRect">
            <a:avLst>
              <a:gd name="adj" fmla="val 2309"/>
            </a:avLst>
          </a:prstGeom>
          <a:solidFill>
            <a:srgbClr val="183A13"/>
          </a:solidFill>
          <a:ln/>
        </p:spPr>
      </p:sp>
      <p:sp>
        <p:nvSpPr>
          <p:cNvPr id="31" name="Text 28"/>
          <p:cNvSpPr/>
          <p:nvPr/>
        </p:nvSpPr>
        <p:spPr>
          <a:xfrm>
            <a:off x="1277362" y="8562617"/>
            <a:ext cx="1207567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Весь стек построен на открытых лицензиях — итоговая стоимость инструментов составляет </a:t>
            </a:r>
            <a:r>
              <a:rPr lang="en-US" sz="2300" b="1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0 ₽</a:t>
            </a:r>
            <a:r>
              <a:rPr lang="en-US" sz="2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.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6266"/>
            <a:ext cx="774096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Функциональные возможности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573179"/>
            <a:ext cx="4215289" cy="2254687"/>
          </a:xfrm>
          <a:prstGeom prst="roundRect">
            <a:avLst>
              <a:gd name="adj" fmla="val 1320"/>
            </a:avLst>
          </a:prstGeom>
          <a:solidFill>
            <a:srgbClr val="404040"/>
          </a:solidFill>
          <a:ln/>
        </p:spPr>
      </p:sp>
      <p:sp>
        <p:nvSpPr>
          <p:cNvPr id="4" name="Shape 2"/>
          <p:cNvSpPr/>
          <p:nvPr/>
        </p:nvSpPr>
        <p:spPr>
          <a:xfrm>
            <a:off x="2603778" y="2771537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7489" y="2935129"/>
            <a:ext cx="267891" cy="2678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8620" y="3565208"/>
            <a:ext cx="31255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Приём webhook-событий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2148" y="3994428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WhatsApp, Telegram, Instagram с верификацией подписей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207437" y="2573179"/>
            <a:ext cx="4215408" cy="2254687"/>
          </a:xfrm>
          <a:prstGeom prst="roundRect">
            <a:avLst>
              <a:gd name="adj" fmla="val 1320"/>
            </a:avLst>
          </a:prstGeom>
          <a:solidFill>
            <a:srgbClr val="404040"/>
          </a:solidFill>
          <a:ln/>
        </p:spPr>
      </p:sp>
      <p:sp>
        <p:nvSpPr>
          <p:cNvPr id="9" name="Shape 6"/>
          <p:cNvSpPr/>
          <p:nvPr/>
        </p:nvSpPr>
        <p:spPr>
          <a:xfrm>
            <a:off x="7017425" y="2771537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81136" y="2935129"/>
            <a:ext cx="267891" cy="2678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050042" y="3565208"/>
            <a:ext cx="253019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Redis-буферизация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5405795" y="3994428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Объединение коротких сообщений за 5-секундное окно TTL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9621203" y="2573179"/>
            <a:ext cx="4215289" cy="2254687"/>
          </a:xfrm>
          <a:prstGeom prst="roundRect">
            <a:avLst>
              <a:gd name="adj" fmla="val 1320"/>
            </a:avLst>
          </a:prstGeom>
          <a:solidFill>
            <a:srgbClr val="404040"/>
          </a:solidFill>
          <a:ln/>
        </p:spPr>
      </p:sp>
      <p:sp>
        <p:nvSpPr>
          <p:cNvPr id="14" name="Shape 10"/>
          <p:cNvSpPr/>
          <p:nvPr/>
        </p:nvSpPr>
        <p:spPr>
          <a:xfrm>
            <a:off x="11431191" y="2771537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94902" y="2935129"/>
            <a:ext cx="267891" cy="2678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488335" y="356520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AI-чат-бот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819561" y="3994428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категорий типовых обращений + передача оператору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93790" y="5026223"/>
            <a:ext cx="4215289" cy="2254687"/>
          </a:xfrm>
          <a:prstGeom prst="roundRect">
            <a:avLst>
              <a:gd name="adj" fmla="val 1320"/>
            </a:avLst>
          </a:prstGeom>
          <a:solidFill>
            <a:srgbClr val="404040"/>
          </a:solidFill>
          <a:ln/>
        </p:spPr>
      </p:sp>
      <p:sp>
        <p:nvSpPr>
          <p:cNvPr id="19" name="Shape 14"/>
          <p:cNvSpPr/>
          <p:nvPr/>
        </p:nvSpPr>
        <p:spPr>
          <a:xfrm>
            <a:off x="2603778" y="522458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67489" y="5388173"/>
            <a:ext cx="267891" cy="2678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87448" y="6018252"/>
            <a:ext cx="282785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Управление каналами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992148" y="6447473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Создание, редактирование, включение/отключение каналов</a:t>
            </a:r>
            <a:endParaRPr lang="en-US" sz="1550" dirty="0"/>
          </a:p>
        </p:txBody>
      </p:sp>
      <p:sp>
        <p:nvSpPr>
          <p:cNvPr id="23" name="Shape 17"/>
          <p:cNvSpPr/>
          <p:nvPr/>
        </p:nvSpPr>
        <p:spPr>
          <a:xfrm>
            <a:off x="5207437" y="5026223"/>
            <a:ext cx="4215408" cy="2254687"/>
          </a:xfrm>
          <a:prstGeom prst="roundRect">
            <a:avLst>
              <a:gd name="adj" fmla="val 1320"/>
            </a:avLst>
          </a:prstGeom>
          <a:solidFill>
            <a:srgbClr val="404040"/>
          </a:solidFill>
          <a:ln/>
        </p:spPr>
      </p:sp>
      <p:sp>
        <p:nvSpPr>
          <p:cNvPr id="24" name="Shape 18"/>
          <p:cNvSpPr/>
          <p:nvPr/>
        </p:nvSpPr>
        <p:spPr>
          <a:xfrm>
            <a:off x="7017425" y="522458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81136" y="5388173"/>
            <a:ext cx="267891" cy="2678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826800" y="6018252"/>
            <a:ext cx="297668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Управление диалогами</a:t>
            </a:r>
            <a:endParaRPr lang="en-US" sz="1950" dirty="0"/>
          </a:p>
        </p:txBody>
      </p:sp>
      <p:sp>
        <p:nvSpPr>
          <p:cNvPr id="27" name="Text 20"/>
          <p:cNvSpPr/>
          <p:nvPr/>
        </p:nvSpPr>
        <p:spPr>
          <a:xfrm>
            <a:off x="5405795" y="6447473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Фильтрация, история, отправка медиа, переключение бота</a:t>
            </a:r>
            <a:endParaRPr lang="en-US" sz="1550" dirty="0"/>
          </a:p>
        </p:txBody>
      </p:sp>
      <p:sp>
        <p:nvSpPr>
          <p:cNvPr id="28" name="Shape 21"/>
          <p:cNvSpPr/>
          <p:nvPr/>
        </p:nvSpPr>
        <p:spPr>
          <a:xfrm>
            <a:off x="9621203" y="5026223"/>
            <a:ext cx="4215289" cy="2254687"/>
          </a:xfrm>
          <a:prstGeom prst="roundRect">
            <a:avLst>
              <a:gd name="adj" fmla="val 1320"/>
            </a:avLst>
          </a:prstGeom>
          <a:solidFill>
            <a:srgbClr val="404040"/>
          </a:solidFill>
          <a:ln/>
        </p:spPr>
      </p:sp>
      <p:sp>
        <p:nvSpPr>
          <p:cNvPr id="29" name="Shape 22"/>
          <p:cNvSpPr/>
          <p:nvPr/>
        </p:nvSpPr>
        <p:spPr>
          <a:xfrm>
            <a:off x="11431191" y="5224582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94902" y="5388173"/>
            <a:ext cx="267891" cy="26789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389275" y="6018252"/>
            <a:ext cx="267902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Реалтайм WebSocket</a:t>
            </a:r>
            <a:endParaRPr lang="en-US" sz="1950" dirty="0"/>
          </a:p>
        </p:txBody>
      </p:sp>
      <p:sp>
        <p:nvSpPr>
          <p:cNvPr id="32" name="Text 24"/>
          <p:cNvSpPr/>
          <p:nvPr/>
        </p:nvSpPr>
        <p:spPr>
          <a:xfrm>
            <a:off x="9819561" y="6447473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События new_message и new_conversation без перезагрузки</a:t>
            </a:r>
            <a:endParaRPr lang="en-US" sz="1550" dirty="0"/>
          </a:p>
        </p:txBody>
      </p:sp>
      <p:sp>
        <p:nvSpPr>
          <p:cNvPr id="33" name="Shape 25"/>
          <p:cNvSpPr/>
          <p:nvPr/>
        </p:nvSpPr>
        <p:spPr>
          <a:xfrm>
            <a:off x="793790" y="7479268"/>
            <a:ext cx="6422112" cy="1937147"/>
          </a:xfrm>
          <a:prstGeom prst="roundRect">
            <a:avLst>
              <a:gd name="adj" fmla="val 1537"/>
            </a:avLst>
          </a:prstGeom>
          <a:solidFill>
            <a:srgbClr val="404040"/>
          </a:solidFill>
          <a:ln/>
        </p:spPr>
      </p:sp>
      <p:sp>
        <p:nvSpPr>
          <p:cNvPr id="34" name="Shape 26"/>
          <p:cNvSpPr/>
          <p:nvPr/>
        </p:nvSpPr>
        <p:spPr>
          <a:xfrm>
            <a:off x="3707130" y="7677626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70841" y="7841218"/>
            <a:ext cx="267891" cy="267891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2442091" y="8471297"/>
            <a:ext cx="31255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Аутентификация и роли</a:t>
            </a:r>
            <a:endParaRPr lang="en-US" sz="1950" dirty="0"/>
          </a:p>
        </p:txBody>
      </p:sp>
      <p:sp>
        <p:nvSpPr>
          <p:cNvPr id="37" name="Text 28"/>
          <p:cNvSpPr/>
          <p:nvPr/>
        </p:nvSpPr>
        <p:spPr>
          <a:xfrm>
            <a:off x="992148" y="8900517"/>
            <a:ext cx="60253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JWT + CSRF; роли admin / operator с разграничением прав</a:t>
            </a:r>
            <a:endParaRPr lang="en-US" sz="1550" dirty="0"/>
          </a:p>
        </p:txBody>
      </p:sp>
      <p:sp>
        <p:nvSpPr>
          <p:cNvPr id="38" name="Shape 29"/>
          <p:cNvSpPr/>
          <p:nvPr/>
        </p:nvSpPr>
        <p:spPr>
          <a:xfrm>
            <a:off x="7414260" y="7479268"/>
            <a:ext cx="6422231" cy="1937147"/>
          </a:xfrm>
          <a:prstGeom prst="roundRect">
            <a:avLst>
              <a:gd name="adj" fmla="val 1537"/>
            </a:avLst>
          </a:prstGeom>
          <a:solidFill>
            <a:srgbClr val="404040"/>
          </a:solidFill>
          <a:ln/>
        </p:spPr>
      </p:sp>
      <p:sp>
        <p:nvSpPr>
          <p:cNvPr id="39" name="Shape 30"/>
          <p:cNvSpPr/>
          <p:nvPr/>
        </p:nvSpPr>
        <p:spPr>
          <a:xfrm>
            <a:off x="10327719" y="7677626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491430" y="7841218"/>
            <a:ext cx="267891" cy="267891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384863" y="847129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Экспорт в XLSX</a:t>
            </a:r>
            <a:endParaRPr lang="en-US" sz="1950" dirty="0"/>
          </a:p>
        </p:txBody>
      </p:sp>
      <p:sp>
        <p:nvSpPr>
          <p:cNvPr id="42" name="Text 32"/>
          <p:cNvSpPr/>
          <p:nvPr/>
        </p:nvSpPr>
        <p:spPr>
          <a:xfrm>
            <a:off x="7612618" y="8900517"/>
            <a:ext cx="60255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История диалогов с фильтрацией по дате и каналу (openpyxl)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1051"/>
            <a:ext cx="1042058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Многоуровневая система безопасности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1708785"/>
            <a:ext cx="5212318" cy="8472845"/>
          </a:xfrm>
          <a:prstGeom prst="roundRect">
            <a:avLst>
              <a:gd name="adj" fmla="val 571"/>
            </a:avLst>
          </a:prstGeom>
          <a:solidFill>
            <a:srgbClr val="DCFF50"/>
          </a:solidFill>
          <a:ln/>
        </p:spPr>
      </p:sp>
      <p:sp>
        <p:nvSpPr>
          <p:cNvPr id="4" name="Text 2"/>
          <p:cNvSpPr/>
          <p:nvPr/>
        </p:nvSpPr>
        <p:spPr>
          <a:xfrm>
            <a:off x="849273" y="190714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Принцип защиты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49273" y="2358509"/>
            <a:ext cx="4815602" cy="4465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Безопасность реализована на каждом уровне стека — от транспорта до бизнес-логики. Ни один запрос не проходит без проверки подлинности и целостности.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212086" y="1932027"/>
            <a:ext cx="3716774" cy="2644140"/>
          </a:xfrm>
          <a:prstGeom prst="roundRect">
            <a:avLst>
              <a:gd name="adj" fmla="val 1126"/>
            </a:avLst>
          </a:prstGeom>
          <a:solidFill>
            <a:srgbClr val="404040"/>
          </a:solidFill>
          <a:ln/>
        </p:spPr>
      </p:sp>
      <p:sp>
        <p:nvSpPr>
          <p:cNvPr id="7" name="Shape 5"/>
          <p:cNvSpPr/>
          <p:nvPr/>
        </p:nvSpPr>
        <p:spPr>
          <a:xfrm>
            <a:off x="7772757" y="2130385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6468" y="2293977"/>
            <a:ext cx="267891" cy="2678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07718" y="2924056"/>
            <a:ext cx="312551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JWT в httpOnly cookie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410444" y="3432572"/>
            <a:ext cx="332005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Токен недоступен из JavaScript; защита от XSS-атак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10127218" y="1932027"/>
            <a:ext cx="3716893" cy="2644140"/>
          </a:xfrm>
          <a:prstGeom prst="roundRect">
            <a:avLst>
              <a:gd name="adj" fmla="val 1126"/>
            </a:avLst>
          </a:prstGeom>
          <a:solidFill>
            <a:srgbClr val="404040"/>
          </a:solidFill>
          <a:ln/>
        </p:spPr>
      </p:sp>
      <p:sp>
        <p:nvSpPr>
          <p:cNvPr id="12" name="Shape 9"/>
          <p:cNvSpPr/>
          <p:nvPr/>
        </p:nvSpPr>
        <p:spPr>
          <a:xfrm>
            <a:off x="11688008" y="2130385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51719" y="2293977"/>
            <a:ext cx="267891" cy="2678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325576" y="2924056"/>
            <a:ext cx="3320177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CSRF-токен в заголовке X-CSRF-Token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10325576" y="3742730"/>
            <a:ext cx="332017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Защита от межсайтовых подделок запросов</a:t>
            </a:r>
            <a:endParaRPr lang="en-US" sz="1550" dirty="0"/>
          </a:p>
        </p:txBody>
      </p:sp>
      <p:sp>
        <p:nvSpPr>
          <p:cNvPr id="16" name="Shape 12"/>
          <p:cNvSpPr/>
          <p:nvPr/>
        </p:nvSpPr>
        <p:spPr>
          <a:xfrm>
            <a:off x="6212086" y="4774525"/>
            <a:ext cx="3716774" cy="2969062"/>
          </a:xfrm>
          <a:prstGeom prst="roundRect">
            <a:avLst>
              <a:gd name="adj" fmla="val 1003"/>
            </a:avLst>
          </a:prstGeom>
          <a:solidFill>
            <a:srgbClr val="404040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757" y="497288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6468" y="5136475"/>
            <a:ext cx="267891" cy="2678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10444" y="5766554"/>
            <a:ext cx="3320058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Верификация webhook-подписей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6410444" y="6585228"/>
            <a:ext cx="332005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X-Hub-Signature-256 (Meta) и X-Telegram-Bot-Api-Secret-Token</a:t>
            </a:r>
            <a:endParaRPr lang="en-US" sz="1550" dirty="0"/>
          </a:p>
        </p:txBody>
      </p:sp>
      <p:sp>
        <p:nvSpPr>
          <p:cNvPr id="21" name="Shape 16"/>
          <p:cNvSpPr/>
          <p:nvPr/>
        </p:nvSpPr>
        <p:spPr>
          <a:xfrm>
            <a:off x="10127218" y="4774525"/>
            <a:ext cx="3716893" cy="2969062"/>
          </a:xfrm>
          <a:prstGeom prst="roundRect">
            <a:avLst>
              <a:gd name="adj" fmla="val 1003"/>
            </a:avLst>
          </a:prstGeom>
          <a:solidFill>
            <a:srgbClr val="404040"/>
          </a:solidFill>
          <a:ln/>
        </p:spPr>
      </p:sp>
      <p:sp>
        <p:nvSpPr>
          <p:cNvPr id="22" name="Shape 17"/>
          <p:cNvSpPr/>
          <p:nvPr/>
        </p:nvSpPr>
        <p:spPr>
          <a:xfrm>
            <a:off x="11688008" y="497288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51719" y="5136475"/>
            <a:ext cx="267891" cy="26789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745153" y="57665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Ограничение CORS</a:t>
            </a:r>
            <a:endParaRPr lang="en-US" sz="1950" dirty="0"/>
          </a:p>
        </p:txBody>
      </p:sp>
      <p:sp>
        <p:nvSpPr>
          <p:cNvPr id="25" name="Text 19"/>
          <p:cNvSpPr/>
          <p:nvPr/>
        </p:nvSpPr>
        <p:spPr>
          <a:xfrm>
            <a:off x="10325576" y="6275070"/>
            <a:ext cx="3320177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Только продовый домен; защитные HTTP-заголовки (HSTS, X-Frame-Options, X-Content-Type-Options)</a:t>
            </a:r>
            <a:endParaRPr lang="en-US" sz="1550" dirty="0"/>
          </a:p>
        </p:txBody>
      </p:sp>
      <p:sp>
        <p:nvSpPr>
          <p:cNvPr id="26" name="Shape 20"/>
          <p:cNvSpPr/>
          <p:nvPr/>
        </p:nvSpPr>
        <p:spPr>
          <a:xfrm>
            <a:off x="6212086" y="7941945"/>
            <a:ext cx="7632025" cy="2016443"/>
          </a:xfrm>
          <a:prstGeom prst="roundRect">
            <a:avLst>
              <a:gd name="adj" fmla="val 1476"/>
            </a:avLst>
          </a:prstGeom>
          <a:solidFill>
            <a:srgbClr val="404040"/>
          </a:solidFill>
          <a:ln/>
        </p:spPr>
      </p:sp>
      <p:sp>
        <p:nvSpPr>
          <p:cNvPr id="27" name="Shape 21"/>
          <p:cNvSpPr/>
          <p:nvPr/>
        </p:nvSpPr>
        <p:spPr>
          <a:xfrm>
            <a:off x="9730383" y="814030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94094" y="8303895"/>
            <a:ext cx="267891" cy="26789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688586" y="8933974"/>
            <a:ext cx="267902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Лимит тела запроса</a:t>
            </a:r>
            <a:endParaRPr lang="en-US" sz="1950" dirty="0"/>
          </a:p>
        </p:txBody>
      </p:sp>
      <p:sp>
        <p:nvSpPr>
          <p:cNvPr id="30" name="Text 23"/>
          <p:cNvSpPr/>
          <p:nvPr/>
        </p:nvSpPr>
        <p:spPr>
          <a:xfrm>
            <a:off x="6410444" y="9442490"/>
            <a:ext cx="723530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Максимум 10 МБ — защита от атак переполнения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2232"/>
            <a:ext cx="714553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AI-чат-бот: как работает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852" y="2679144"/>
            <a:ext cx="10142696" cy="464200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91188" y="3838129"/>
            <a:ext cx="652132" cy="652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10178" y="6218822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Передача</a:t>
            </a:r>
            <a:endParaRPr lang="en-US" sz="23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03771" y="3839352"/>
            <a:ext cx="652132" cy="6521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10328" y="6035409"/>
            <a:ext cx="2399850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Маршрутизация</a:t>
            </a:r>
            <a:endParaRPr lang="en-US" sz="23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816964" y="3839352"/>
            <a:ext cx="652133" cy="6521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23523" y="6218822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Анализ</a:t>
            </a:r>
            <a:endParaRPr lang="en-US" sz="23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17115" y="3839352"/>
            <a:ext cx="652133" cy="65213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784545" y="6035409"/>
            <a:ext cx="2119963" cy="733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Буферизация</a:t>
            </a:r>
            <a:endParaRPr lang="en-US" sz="2300" dirty="0"/>
          </a:p>
        </p:txBody>
      </p:sp>
      <p:sp>
        <p:nvSpPr>
          <p:cNvPr id="12" name="Text 5"/>
          <p:cNvSpPr/>
          <p:nvPr/>
        </p:nvSpPr>
        <p:spPr>
          <a:xfrm>
            <a:off x="793790" y="761880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Системный промпт</a:t>
            </a:r>
            <a:endParaRPr lang="en-US" sz="3900" dirty="0"/>
          </a:p>
        </p:txBody>
      </p:sp>
      <p:sp>
        <p:nvSpPr>
          <p:cNvPr id="13" name="Text 6"/>
          <p:cNvSpPr/>
          <p:nvPr/>
        </p:nvSpPr>
        <p:spPr>
          <a:xfrm>
            <a:off x="793790" y="8318183"/>
            <a:ext cx="13042821" cy="992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Содержится в ноде N8N и даёт ИИ полный контекст для взаимодействия с пользователем</a:t>
            </a:r>
            <a:endParaRPr lang="en-US" sz="3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3338"/>
            <a:ext cx="1012281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Демонстрация: операторский дашборд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10251"/>
            <a:ext cx="13042821" cy="628495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8518446"/>
            <a:ext cx="4215289" cy="1461016"/>
          </a:xfrm>
          <a:prstGeom prst="roundRect">
            <a:avLst>
              <a:gd name="adj" fmla="val 2038"/>
            </a:avLst>
          </a:prstGeom>
          <a:solidFill>
            <a:srgbClr val="404040"/>
          </a:solidFill>
          <a:ln/>
        </p:spPr>
      </p:sp>
      <p:sp>
        <p:nvSpPr>
          <p:cNvPr id="5" name="Text 2"/>
          <p:cNvSpPr/>
          <p:nvPr/>
        </p:nvSpPr>
        <p:spPr>
          <a:xfrm>
            <a:off x="992148" y="87168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LeftPanel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92148" y="9146024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Список диалогов с фильтрацией по статусу и каналу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207437" y="8518446"/>
            <a:ext cx="4215408" cy="1461016"/>
          </a:xfrm>
          <a:prstGeom prst="roundRect">
            <a:avLst>
              <a:gd name="adj" fmla="val 2038"/>
            </a:avLst>
          </a:prstGeom>
          <a:solidFill>
            <a:srgbClr val="404040"/>
          </a:solidFill>
          <a:ln/>
        </p:spPr>
      </p:sp>
      <p:sp>
        <p:nvSpPr>
          <p:cNvPr id="8" name="Text 5"/>
          <p:cNvSpPr/>
          <p:nvPr/>
        </p:nvSpPr>
        <p:spPr>
          <a:xfrm>
            <a:off x="5405795" y="87168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ChatPanel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5405795" y="9146024"/>
            <a:ext cx="381869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История переписки, отправка текста и медиафайлов / быстрые шаблоны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9621203" y="8518446"/>
            <a:ext cx="4215289" cy="1461016"/>
          </a:xfrm>
          <a:prstGeom prst="roundRect">
            <a:avLst>
              <a:gd name="adj" fmla="val 2038"/>
            </a:avLst>
          </a:prstGeom>
          <a:solidFill>
            <a:srgbClr val="404040"/>
          </a:solidFill>
          <a:ln/>
        </p:spPr>
      </p:sp>
      <p:sp>
        <p:nvSpPr>
          <p:cNvPr id="11" name="Text 8"/>
          <p:cNvSpPr/>
          <p:nvPr/>
        </p:nvSpPr>
        <p:spPr>
          <a:xfrm>
            <a:off x="9819561" y="87168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RightPanel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819561" y="9146024"/>
            <a:ext cx="381857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Детали клиента, управление ботом, 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81395"/>
            <a:ext cx="13067586" cy="1220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Демонстрация: управление каналами и настройки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07" y="2286833"/>
            <a:ext cx="13067586" cy="63050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1407" y="9000530"/>
            <a:ext cx="2442091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ChannelsView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81407" y="9497973"/>
            <a:ext cx="629554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и редактирование каналов. При добавлении Telegram-канала webhook регистрируется автоматически через </a:t>
            </a:r>
            <a:r>
              <a:rPr lang="en-US" sz="1500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setWebhook</a:t>
            </a: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561064" y="9000530"/>
            <a:ext cx="4101227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SettingsView + TemplatesView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561064" y="9497973"/>
            <a:ext cx="629554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Управление системными параметрами и шаблонами быстрых ответов для ускорения работы операторов.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70453"/>
            <a:ext cx="80387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Демонстрация: Меню шаблонов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469827"/>
            <a:ext cx="13042821" cy="1116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Меню шаблонов позволяет операторам быстро выбирать и отправлять стандартные ответы, значительно ускоряя процесс коммуникации с клиентами и обеспечивая единообразие в ответах.</a:t>
            </a:r>
            <a:endParaRPr lang="en-US" sz="2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83694"/>
            <a:ext cx="13042821" cy="62768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9458206"/>
            <a:ext cx="13042821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Шаблоны можно создавать и редактировать, адаптируя их под различные сценарии взаимодействия.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8805"/>
            <a:ext cx="922960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Демонстрация: AI-бот в действии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313" y="1935718"/>
            <a:ext cx="7719774" cy="575321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93790" y="7912179"/>
            <a:ext cx="4215289" cy="2141815"/>
          </a:xfrm>
          <a:prstGeom prst="roundRect">
            <a:avLst>
              <a:gd name="adj" fmla="val 1390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15008" y="81333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Буферизация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015008" y="8562618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Несколько коротких сообщений за 5 сек объединяются в одно — качество ответов бота существенно выше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207437" y="7912179"/>
            <a:ext cx="4215408" cy="2141815"/>
          </a:xfrm>
          <a:prstGeom prst="roundRect">
            <a:avLst>
              <a:gd name="adj" fmla="val 1390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28655" y="813339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ru-RU" sz="1950" dirty="0">
                <a:solidFill>
                  <a:srgbClr val="E5E0DF"/>
                </a:solidFill>
                <a:latin typeface="Roboto Mono Medium" pitchFamily="34" charset="0"/>
                <a:cs typeface="Roboto Mono Medium" pitchFamily="34" charset="-120"/>
              </a:rPr>
              <a:t>Знания ИИ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5428655" y="8562618"/>
            <a:ext cx="377297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Приветствие · Цены · Бронирование · Адрес · Оплата · Оборудование · Запрос оператора · Прощание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9621203" y="7912179"/>
            <a:ext cx="4215289" cy="2141815"/>
          </a:xfrm>
          <a:prstGeom prst="roundRect">
            <a:avLst>
              <a:gd name="adj" fmla="val 1390"/>
            </a:avLst>
          </a:prstGeom>
          <a:solidFill>
            <a:srgbClr val="212121"/>
          </a:solidFill>
          <a:ln w="22860">
            <a:solidFill>
              <a:srgbClr val="59595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42421" y="8133398"/>
            <a:ext cx="267902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Передача оператору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842421" y="8562618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 запросу клиента или вручную — бот останавливается, оператор подключается мгновенно через WebSocket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B416D47-F93C-6D25-B3D3-C8533C626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092270"/>
            <a:ext cx="9235440" cy="79520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39220B-02D7-F3F0-24E7-5E59C8CCCB14}"/>
              </a:ext>
            </a:extLst>
          </p:cNvPr>
          <p:cNvSpPr txBox="1"/>
          <p:nvPr/>
        </p:nvSpPr>
        <p:spPr>
          <a:xfrm>
            <a:off x="2344189" y="928489"/>
            <a:ext cx="994202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800" dirty="0">
                <a:solidFill>
                  <a:schemeClr val="bg1"/>
                </a:solidFill>
                <a:latin typeface=""/>
              </a:rPr>
              <a:t>Схема базы Данных</a:t>
            </a:r>
            <a:r>
              <a:rPr lang="en-US" sz="3800" dirty="0">
                <a:solidFill>
                  <a:schemeClr val="bg1"/>
                </a:solidFill>
                <a:latin typeface=""/>
              </a:rPr>
              <a:t>:</a:t>
            </a:r>
            <a:endParaRPr lang="ru-RU" sz="3800" dirty="0">
              <a:solidFill>
                <a:schemeClr val="bg1"/>
              </a:solidFill>
              <a:latin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4203153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537210"/>
            <a:ext cx="6475928" cy="518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Демонстрация: воркфлоу N8N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781407" y="1264444"/>
            <a:ext cx="13067586" cy="243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Воркфлоу в N8N — это ядро, которое управляет логикой AI-чат-бота, от приёма сообщения до формирования ответа или передачи диалога оператору.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781407" y="9108758"/>
            <a:ext cx="13067586" cy="22860"/>
          </a:xfrm>
          <a:prstGeom prst="roundRect">
            <a:avLst>
              <a:gd name="adj" fmla="val 108968"/>
            </a:avLst>
          </a:prstGeom>
          <a:solidFill>
            <a:srgbClr val="595959"/>
          </a:solidFill>
          <a:ln/>
        </p:spPr>
      </p:sp>
      <p:sp>
        <p:nvSpPr>
          <p:cNvPr id="6" name="Shape 3"/>
          <p:cNvSpPr/>
          <p:nvPr/>
        </p:nvSpPr>
        <p:spPr>
          <a:xfrm>
            <a:off x="3331369" y="8776692"/>
            <a:ext cx="22860" cy="332065"/>
          </a:xfrm>
          <a:prstGeom prst="roundRect">
            <a:avLst>
              <a:gd name="adj" fmla="val 108968"/>
            </a:avLst>
          </a:prstGeom>
          <a:solidFill>
            <a:srgbClr val="595959"/>
          </a:solidFill>
          <a:ln/>
        </p:spPr>
      </p:sp>
      <p:sp>
        <p:nvSpPr>
          <p:cNvPr id="7" name="Shape 4"/>
          <p:cNvSpPr/>
          <p:nvPr/>
        </p:nvSpPr>
        <p:spPr>
          <a:xfrm>
            <a:off x="3280529" y="9046488"/>
            <a:ext cx="124539" cy="124539"/>
          </a:xfrm>
          <a:prstGeom prst="roundRect">
            <a:avLst>
              <a:gd name="adj" fmla="val 367114"/>
            </a:avLst>
          </a:prstGeom>
          <a:solidFill>
            <a:srgbClr val="DCFF50"/>
          </a:solidFill>
          <a:ln/>
        </p:spPr>
      </p:sp>
      <p:sp>
        <p:nvSpPr>
          <p:cNvPr id="8" name="Text 5"/>
          <p:cNvSpPr/>
          <p:nvPr/>
        </p:nvSpPr>
        <p:spPr>
          <a:xfrm>
            <a:off x="2304931" y="7780020"/>
            <a:ext cx="2075736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Приём сообщения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47380" y="8122682"/>
            <a:ext cx="4790837" cy="48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N8N получает буферизированные сообщения от бэкенда FastAPI.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79557" y="9108758"/>
            <a:ext cx="22860" cy="332065"/>
          </a:xfrm>
          <a:prstGeom prst="roundRect">
            <a:avLst>
              <a:gd name="adj" fmla="val 108968"/>
            </a:avLst>
          </a:prstGeom>
          <a:solidFill>
            <a:srgbClr val="595959"/>
          </a:solidFill>
          <a:ln/>
        </p:spPr>
      </p:sp>
      <p:sp>
        <p:nvSpPr>
          <p:cNvPr id="11" name="Shape 8"/>
          <p:cNvSpPr/>
          <p:nvPr/>
        </p:nvSpPr>
        <p:spPr>
          <a:xfrm>
            <a:off x="5928717" y="9046488"/>
            <a:ext cx="124539" cy="124539"/>
          </a:xfrm>
          <a:prstGeom prst="roundRect">
            <a:avLst>
              <a:gd name="adj" fmla="val 367114"/>
            </a:avLst>
          </a:prstGeom>
          <a:solidFill>
            <a:srgbClr val="DCFF50"/>
          </a:solidFill>
          <a:ln/>
        </p:spPr>
      </p:sp>
      <p:sp>
        <p:nvSpPr>
          <p:cNvPr id="12" name="Text 9"/>
          <p:cNvSpPr/>
          <p:nvPr/>
        </p:nvSpPr>
        <p:spPr>
          <a:xfrm>
            <a:off x="4870132" y="9606915"/>
            <a:ext cx="2241709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Анализ AI-сервисом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595568" y="9949577"/>
            <a:ext cx="4790956" cy="48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Сообщение передаётся в AI-сервис для распознавания намерения и формирования ответа.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27745" y="8776692"/>
            <a:ext cx="22860" cy="332065"/>
          </a:xfrm>
          <a:prstGeom prst="roundRect">
            <a:avLst>
              <a:gd name="adj" fmla="val 108968"/>
            </a:avLst>
          </a:prstGeom>
          <a:solidFill>
            <a:srgbClr val="595959"/>
          </a:solidFill>
          <a:ln/>
        </p:spPr>
      </p:sp>
      <p:sp>
        <p:nvSpPr>
          <p:cNvPr id="15" name="Shape 12"/>
          <p:cNvSpPr/>
          <p:nvPr/>
        </p:nvSpPr>
        <p:spPr>
          <a:xfrm>
            <a:off x="8576905" y="9046488"/>
            <a:ext cx="124539" cy="124539"/>
          </a:xfrm>
          <a:prstGeom prst="roundRect">
            <a:avLst>
              <a:gd name="adj" fmla="val 367114"/>
            </a:avLst>
          </a:prstGeom>
          <a:solidFill>
            <a:srgbClr val="DCFF50"/>
          </a:solidFill>
          <a:ln/>
        </p:spPr>
      </p:sp>
      <p:sp>
        <p:nvSpPr>
          <p:cNvPr id="16" name="Text 13"/>
          <p:cNvSpPr/>
          <p:nvPr/>
        </p:nvSpPr>
        <p:spPr>
          <a:xfrm>
            <a:off x="7601307" y="7780020"/>
            <a:ext cx="2075736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Бизнес-логика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243757" y="8122682"/>
            <a:ext cx="4790956" cy="48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N8N обрабатывает ответ AI, применяет дополнительные правила и определяет дальнейшие действия.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1276052" y="9108758"/>
            <a:ext cx="22860" cy="332065"/>
          </a:xfrm>
          <a:prstGeom prst="roundRect">
            <a:avLst>
              <a:gd name="adj" fmla="val 108968"/>
            </a:avLst>
          </a:prstGeom>
          <a:solidFill>
            <a:srgbClr val="595959"/>
          </a:solidFill>
          <a:ln/>
        </p:spPr>
      </p:sp>
      <p:sp>
        <p:nvSpPr>
          <p:cNvPr id="19" name="Shape 16"/>
          <p:cNvSpPr/>
          <p:nvPr/>
        </p:nvSpPr>
        <p:spPr>
          <a:xfrm>
            <a:off x="11225213" y="9046488"/>
            <a:ext cx="124539" cy="124539"/>
          </a:xfrm>
          <a:prstGeom prst="roundRect">
            <a:avLst>
              <a:gd name="adj" fmla="val 367114"/>
            </a:avLst>
          </a:prstGeom>
          <a:solidFill>
            <a:srgbClr val="DCFF50"/>
          </a:solidFill>
          <a:ln/>
        </p:spPr>
      </p:sp>
      <p:sp>
        <p:nvSpPr>
          <p:cNvPr id="20" name="Text 17"/>
          <p:cNvSpPr/>
          <p:nvPr/>
        </p:nvSpPr>
        <p:spPr>
          <a:xfrm>
            <a:off x="10228898" y="9606915"/>
            <a:ext cx="2117169" cy="259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Отправка/Передача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892064" y="9949577"/>
            <a:ext cx="4790956" cy="487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Сформированный ответ отправляется пользователю или диалог помечается для оператора.</a:t>
            </a:r>
            <a:endParaRPr lang="en-US" sz="1300" dirty="0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B4DCCAC-83E2-D817-0EEB-87F37DA0E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1879799"/>
            <a:ext cx="7772400" cy="55177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6753"/>
            <a:ext cx="5091708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Результаты проекта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2034897" y="2553057"/>
            <a:ext cx="1716048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2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6540" y="1681043"/>
            <a:ext cx="2092881" cy="209288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045" y="4000024"/>
            <a:ext cx="240387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Мессенджер-канала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793790" y="4402098"/>
            <a:ext cx="4198382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WhatsApp Business Cloud API, Telegram Bot API, Instagram Graph API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457117" y="2553057"/>
            <a:ext cx="1716048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10</a:t>
            </a:r>
            <a:endParaRPr lang="en-US" sz="2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760" y="1681043"/>
            <a:ext cx="2092881" cy="209288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36719" y="4000024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API-роутеров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5216009" y="4402098"/>
            <a:ext cx="4198382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auth, channels, conversations, messages, websocket, webhook, telegram_webhook, incoming, bot_reply, export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0879336" y="2553057"/>
            <a:ext cx="1716048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27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0979" y="1681043"/>
            <a:ext cx="2092881" cy="209288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58939" y="4000024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Таблиц БД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9638228" y="4402098"/>
            <a:ext cx="4198382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Channel, Conversation, Message, User, AppSettings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2034897" y="6561892"/>
            <a:ext cx="1716048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8</a:t>
            </a:r>
            <a:endParaRPr lang="en-US" sz="27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6540" y="5689878"/>
            <a:ext cx="2092881" cy="209288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714500" y="800885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Категорий бота</a:t>
            </a:r>
            <a:endParaRPr lang="en-US" sz="1850" dirty="0"/>
          </a:p>
        </p:txBody>
      </p:sp>
      <p:sp>
        <p:nvSpPr>
          <p:cNvPr id="18" name="Text 12"/>
          <p:cNvSpPr/>
          <p:nvPr/>
        </p:nvSpPr>
        <p:spPr>
          <a:xfrm>
            <a:off x="793790" y="8410932"/>
            <a:ext cx="4198382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Типовые обращения, покрытые AI-чат-ботом без участия оператора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6457117" y="6561892"/>
            <a:ext cx="1716048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</a:t>
            </a:r>
            <a:endParaRPr lang="en-US" sz="27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8760" y="5689878"/>
            <a:ext cx="2092881" cy="209288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42541" y="8008858"/>
            <a:ext cx="2545199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Docker-контейнеров</a:t>
            </a:r>
            <a:endParaRPr lang="en-US" sz="1850" dirty="0"/>
          </a:p>
        </p:txBody>
      </p:sp>
      <p:sp>
        <p:nvSpPr>
          <p:cNvPr id="22" name="Text 15"/>
          <p:cNvSpPr/>
          <p:nvPr/>
        </p:nvSpPr>
        <p:spPr>
          <a:xfrm>
            <a:off x="5216009" y="8410932"/>
            <a:ext cx="4198382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Разворачиваются одной командой </a:t>
            </a:r>
            <a:r>
              <a:rPr lang="en-US" sz="1450" dirty="0">
                <a:solidFill>
                  <a:srgbClr val="E5E0DF"/>
                </a:solidFill>
                <a:highlight>
                  <a:srgbClr val="2E2E2E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10879336" y="6561892"/>
            <a:ext cx="1716048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27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5 сек</a:t>
            </a:r>
            <a:endParaRPr lang="en-US" sz="27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0979" y="5689878"/>
            <a:ext cx="2092881" cy="2092881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535483" y="8008858"/>
            <a:ext cx="240387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Окно буфера Redis</a:t>
            </a:r>
            <a:endParaRPr lang="en-US" sz="1850" dirty="0"/>
          </a:p>
        </p:txBody>
      </p:sp>
      <p:sp>
        <p:nvSpPr>
          <p:cNvPr id="26" name="Text 18"/>
          <p:cNvSpPr/>
          <p:nvPr/>
        </p:nvSpPr>
        <p:spPr>
          <a:xfrm>
            <a:off x="9638228" y="8410932"/>
            <a:ext cx="4198382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TTL объединения коротких сообщений перед передачей боту</a:t>
            </a:r>
            <a:endParaRPr lang="en-US" sz="1450" dirty="0"/>
          </a:p>
        </p:txBody>
      </p:sp>
      <p:sp>
        <p:nvSpPr>
          <p:cNvPr id="27" name="Shape 19"/>
          <p:cNvSpPr/>
          <p:nvPr/>
        </p:nvSpPr>
        <p:spPr>
          <a:xfrm>
            <a:off x="793790" y="9216033"/>
            <a:ext cx="13042821" cy="1069896"/>
          </a:xfrm>
          <a:prstGeom prst="roundRect">
            <a:avLst>
              <a:gd name="adj" fmla="val 2643"/>
            </a:avLst>
          </a:prstGeom>
          <a:solidFill>
            <a:srgbClr val="183A13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2266" y="9492258"/>
            <a:ext cx="235625" cy="18847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406366" y="9442133"/>
            <a:ext cx="12241768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Бэкенд реализован на </a:t>
            </a:r>
            <a:r>
              <a:rPr lang="en-US" sz="14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полностью асинхронном стеке</a:t>
            </a:r>
            <a:r>
              <a:rPr lang="en-US" sz="14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(asyncio + asyncpg + aioredis) — тысячи одновременных соединений без блокирующих операций ввода-вывода.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306842"/>
            <a:ext cx="922960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Дальнейшее развитие функционала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4621411"/>
            <a:ext cx="4215289" cy="3044428"/>
          </a:xfrm>
          <a:prstGeom prst="roundRect">
            <a:avLst>
              <a:gd name="adj" fmla="val 3604"/>
            </a:avLst>
          </a:prstGeom>
          <a:solidFill>
            <a:srgbClr val="212121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4598551"/>
            <a:ext cx="4215289" cy="91440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5" name="Shape 3"/>
          <p:cNvSpPr/>
          <p:nvPr/>
        </p:nvSpPr>
        <p:spPr>
          <a:xfrm>
            <a:off x="2603778" y="432375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DCFF5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82372" y="4502348"/>
            <a:ext cx="238125" cy="238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5008" y="5117544"/>
            <a:ext cx="377285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Поддержка нескольких компаний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015008" y="5856923"/>
            <a:ext cx="377285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Возможность создания и управления изолированными рабочими пространствами для разных организаций или отделов в рамках одной платформы.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207437" y="4621411"/>
            <a:ext cx="4215408" cy="3044428"/>
          </a:xfrm>
          <a:prstGeom prst="roundRect">
            <a:avLst>
              <a:gd name="adj" fmla="val 3604"/>
            </a:avLst>
          </a:prstGeom>
          <a:solidFill>
            <a:srgbClr val="212121"/>
          </a:solidFill>
          <a:ln/>
        </p:spPr>
      </p:sp>
      <p:sp>
        <p:nvSpPr>
          <p:cNvPr id="10" name="Shape 7"/>
          <p:cNvSpPr/>
          <p:nvPr/>
        </p:nvSpPr>
        <p:spPr>
          <a:xfrm>
            <a:off x="5207437" y="4598551"/>
            <a:ext cx="4215408" cy="91440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11" name="Shape 8"/>
          <p:cNvSpPr/>
          <p:nvPr/>
        </p:nvSpPr>
        <p:spPr>
          <a:xfrm>
            <a:off x="7017425" y="432375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DCFF5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96018" y="4502348"/>
            <a:ext cx="238125" cy="238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77972" y="5117544"/>
            <a:ext cx="32743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Встроенная CRM-система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5428655" y="5546765"/>
            <a:ext cx="377297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Интегрированное управление клиентской базой, историей взаимодействий, статусами сделок и автоматизация процессов продаж.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9621203" y="4621411"/>
            <a:ext cx="4215289" cy="3044428"/>
          </a:xfrm>
          <a:prstGeom prst="roundRect">
            <a:avLst>
              <a:gd name="adj" fmla="val 3604"/>
            </a:avLst>
          </a:prstGeom>
          <a:solidFill>
            <a:srgbClr val="212121"/>
          </a:solidFill>
          <a:ln/>
        </p:spPr>
      </p:sp>
      <p:sp>
        <p:nvSpPr>
          <p:cNvPr id="16" name="Shape 12"/>
          <p:cNvSpPr/>
          <p:nvPr/>
        </p:nvSpPr>
        <p:spPr>
          <a:xfrm>
            <a:off x="9621203" y="4598551"/>
            <a:ext cx="4215289" cy="91440"/>
          </a:xfrm>
          <a:prstGeom prst="roundRect">
            <a:avLst>
              <a:gd name="adj" fmla="val 32558"/>
            </a:avLst>
          </a:prstGeom>
          <a:solidFill>
            <a:srgbClr val="DCFF50"/>
          </a:solidFill>
          <a:ln/>
        </p:spPr>
      </p:sp>
      <p:sp>
        <p:nvSpPr>
          <p:cNvPr id="17" name="Shape 13"/>
          <p:cNvSpPr/>
          <p:nvPr/>
        </p:nvSpPr>
        <p:spPr>
          <a:xfrm>
            <a:off x="11431191" y="4323755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DCFF50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609784" y="4502348"/>
            <a:ext cx="238125" cy="238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68376" y="5117544"/>
            <a:ext cx="372082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Интегрированный календарь</a:t>
            </a:r>
            <a:endParaRPr lang="en-US" sz="1950" dirty="0"/>
          </a:p>
        </p:txBody>
      </p:sp>
      <p:sp>
        <p:nvSpPr>
          <p:cNvPr id="20" name="Text 15"/>
          <p:cNvSpPr/>
          <p:nvPr/>
        </p:nvSpPr>
        <p:spPr>
          <a:xfrm>
            <a:off x="9842421" y="5546765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Функционал для планирования встреч, задач, событий и напоминаний, синхронизированный с диалогами и операторами.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98608"/>
            <a:ext cx="684776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Ключевые выводы проекта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21552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Разработанный</a:t>
            </a: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чат-агрегатор с AI-ботом трансформирует взаимодействие с клиентами, обеспечивая эффективность и масштабируемость.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756303"/>
            <a:ext cx="4215289" cy="2882384"/>
          </a:xfrm>
          <a:prstGeom prst="roundRect">
            <a:avLst>
              <a:gd name="adj" fmla="val 1033"/>
            </a:avLst>
          </a:prstGeom>
          <a:solidFill>
            <a:srgbClr val="404040"/>
          </a:solidFill>
          <a:ln/>
        </p:spPr>
      </p:sp>
      <p:sp>
        <p:nvSpPr>
          <p:cNvPr id="5" name="Shape 3"/>
          <p:cNvSpPr/>
          <p:nvPr/>
        </p:nvSpPr>
        <p:spPr>
          <a:xfrm>
            <a:off x="2603778" y="395466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67489" y="4118253"/>
            <a:ext cx="267891" cy="2678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64206" y="4748332"/>
            <a:ext cx="327433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Автоматизация запросов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92148" y="517755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AI-бот обрабатывает до 80% типовых обращений, снижая нагрузку на операторов.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207437" y="3756303"/>
            <a:ext cx="4215408" cy="2882384"/>
          </a:xfrm>
          <a:prstGeom prst="roundRect">
            <a:avLst>
              <a:gd name="adj" fmla="val 1033"/>
            </a:avLst>
          </a:prstGeom>
          <a:solidFill>
            <a:srgbClr val="404040"/>
          </a:solidFill>
          <a:ln/>
        </p:spPr>
      </p:sp>
      <p:sp>
        <p:nvSpPr>
          <p:cNvPr id="10" name="Shape 7"/>
          <p:cNvSpPr/>
          <p:nvPr/>
        </p:nvSpPr>
        <p:spPr>
          <a:xfrm>
            <a:off x="7017425" y="395466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81136" y="4118253"/>
            <a:ext cx="267891" cy="2678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05795" y="4748332"/>
            <a:ext cx="381869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Единое окно для всех каналов</a:t>
            </a:r>
            <a:endParaRPr lang="en-US" sz="1950" dirty="0"/>
          </a:p>
        </p:txBody>
      </p:sp>
      <p:sp>
        <p:nvSpPr>
          <p:cNvPr id="13" name="Text 9"/>
          <p:cNvSpPr/>
          <p:nvPr/>
        </p:nvSpPr>
        <p:spPr>
          <a:xfrm>
            <a:off x="5405795" y="5487710"/>
            <a:ext cx="38186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Объединение WhatsApp, Telegram и Instagram в одном интерфейсе для удобства работы.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9621203" y="3756303"/>
            <a:ext cx="4215289" cy="2882384"/>
          </a:xfrm>
          <a:prstGeom prst="roundRect">
            <a:avLst>
              <a:gd name="adj" fmla="val 1033"/>
            </a:avLst>
          </a:prstGeom>
          <a:solidFill>
            <a:srgbClr val="404040"/>
          </a:solidFill>
          <a:ln/>
        </p:spPr>
      </p:sp>
      <p:sp>
        <p:nvSpPr>
          <p:cNvPr id="15" name="Shape 11"/>
          <p:cNvSpPr/>
          <p:nvPr/>
        </p:nvSpPr>
        <p:spPr>
          <a:xfrm>
            <a:off x="11431191" y="395466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594902" y="4118253"/>
            <a:ext cx="267891" cy="2678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8376" y="4748332"/>
            <a:ext cx="372082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Надёжность и безопасность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9819561" y="5177552"/>
            <a:ext cx="381857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Многоуровневая система защиты данных и запросов на каждом этапе.</a:t>
            </a:r>
            <a:endParaRPr lang="en-US" sz="1550" dirty="0"/>
          </a:p>
        </p:txBody>
      </p:sp>
      <p:sp>
        <p:nvSpPr>
          <p:cNvPr id="19" name="Shape 14"/>
          <p:cNvSpPr/>
          <p:nvPr/>
        </p:nvSpPr>
        <p:spPr>
          <a:xfrm>
            <a:off x="793790" y="6837045"/>
            <a:ext cx="13042702" cy="1937147"/>
          </a:xfrm>
          <a:prstGeom prst="roundRect">
            <a:avLst>
              <a:gd name="adj" fmla="val 1537"/>
            </a:avLst>
          </a:prstGeom>
          <a:solidFill>
            <a:srgbClr val="404040"/>
          </a:solidFill>
          <a:ln/>
        </p:spPr>
      </p:sp>
      <p:sp>
        <p:nvSpPr>
          <p:cNvPr id="20" name="Shape 15"/>
          <p:cNvSpPr/>
          <p:nvPr/>
        </p:nvSpPr>
        <p:spPr>
          <a:xfrm>
            <a:off x="7017425" y="7035403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DCFF5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81136" y="7198995"/>
            <a:ext cx="267891" cy="2678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5901" y="7829074"/>
            <a:ext cx="401847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Гибкость и масштабируемость</a:t>
            </a:r>
            <a:endParaRPr lang="en-US" sz="1950" dirty="0"/>
          </a:p>
        </p:txBody>
      </p:sp>
      <p:sp>
        <p:nvSpPr>
          <p:cNvPr id="23" name="Text 17"/>
          <p:cNvSpPr/>
          <p:nvPr/>
        </p:nvSpPr>
        <p:spPr>
          <a:xfrm>
            <a:off x="992148" y="8258294"/>
            <a:ext cx="1264598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Технологический стек  позволяет легко адаптировать и развивать  систему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0527" y="4558546"/>
            <a:ext cx="11909227" cy="1240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750"/>
              </a:lnSpc>
              <a:buNone/>
            </a:pPr>
            <a:r>
              <a:rPr lang="en-US" sz="78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Спасибо за внимание!</a:t>
            </a:r>
            <a:endParaRPr lang="en-US" sz="7800" dirty="0"/>
          </a:p>
        </p:txBody>
      </p:sp>
      <p:sp>
        <p:nvSpPr>
          <p:cNvPr id="3" name="Text 1"/>
          <p:cNvSpPr/>
          <p:nvPr/>
        </p:nvSpPr>
        <p:spPr>
          <a:xfrm>
            <a:off x="793790" y="609659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1086</Words>
  <Application>Microsoft Macintosh PowerPoint</Application>
  <PresentationFormat>Произвольный</PresentationFormat>
  <Paragraphs>182</Paragraphs>
  <Slides>18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4" baseType="lpstr">
      <vt:lpstr>Arial</vt:lpstr>
      <vt:lpstr>Roboto Mono Medium</vt:lpstr>
      <vt:lpstr>Roboto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Алексей Савченко</cp:lastModifiedBy>
  <cp:revision>4</cp:revision>
  <dcterms:created xsi:type="dcterms:W3CDTF">2026-04-21T18:17:22Z</dcterms:created>
  <dcterms:modified xsi:type="dcterms:W3CDTF">2026-05-20T11:57:09Z</dcterms:modified>
</cp:coreProperties>
</file>