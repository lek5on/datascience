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0" r:id="rId17"/>
    <p:sldId id="271" r:id="rId18"/>
    <p:sldId id="272" r:id="rId19"/>
  </p:sldIdLst>
  <p:sldSz cx="14630400" cy="10972800"/>
  <p:notesSz cx="10972800" cy="146304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  <p:embeddedFont>
      <p:font typeface="Roboto Mono Medium" panose="020B0604020202020204" charset="0"/>
      <p:regular r:id="rId33"/>
      <p:italic r:id="rId3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28" y="-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24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1097280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" name="Shape 1"/>
          <p:cNvSpPr/>
          <p:nvPr/>
        </p:nvSpPr>
        <p:spPr>
          <a:xfrm>
            <a:off x="793790" y="2729947"/>
            <a:ext cx="3991570" cy="450092"/>
          </a:xfrm>
          <a:prstGeom prst="roundRect">
            <a:avLst>
              <a:gd name="adj" fmla="val 6383"/>
            </a:avLst>
          </a:prstGeom>
          <a:solidFill>
            <a:srgbClr val="3D4D00"/>
          </a:solidFill>
          <a:ln/>
        </p:spPr>
      </p:sp>
      <p:sp>
        <p:nvSpPr>
          <p:cNvPr id="5" name="Text 2"/>
          <p:cNvSpPr/>
          <p:nvPr/>
        </p:nvSpPr>
        <p:spPr>
          <a:xfrm>
            <a:off x="912852" y="2842686"/>
            <a:ext cx="25366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КУРСОВ</a:t>
            </a:r>
            <a:r>
              <a:rPr lang="ru-RU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ОЙ ПРОЕКТ</a:t>
            </a: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КУБГУ ·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3259336"/>
            <a:ext cx="7556421" cy="147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 err="1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Разработка</a:t>
            </a:r>
            <a:r>
              <a:rPr lang="ru-RU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</a:t>
            </a:r>
            <a:r>
              <a:rPr lang="en-US" sz="3900" dirty="0" err="1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чат-агрегатора</a:t>
            </a:r>
            <a:r>
              <a:rPr lang="en-US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с интеграцией AI-чат-бота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93789" y="4957011"/>
            <a:ext cx="7556421" cy="1726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Платформа</a:t>
            </a: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0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TANTAL</a:t>
            </a:r>
            <a:r>
              <a:rPr lang="ru-RU" sz="20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r>
              <a:rPr lang="en-US" sz="20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</a:t>
            </a: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веб-приложение для агрегации входящих сообщений из WhatsApp, Telegram и Instagram с интегрированным AI-чат-ботом и операторским интерфейсом в реальном времени.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93790" y="7213163"/>
            <a:ext cx="7556421" cy="2460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Выполнил: </a:t>
            </a:r>
            <a:r>
              <a:rPr lang="en-US" sz="20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А.С. </a:t>
            </a:r>
            <a:r>
              <a:rPr lang="en-US" sz="2000" b="1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Савченко</a:t>
            </a:r>
            <a:endParaRPr lang="ru-RU" sz="2000" b="1" dirty="0">
              <a:solidFill>
                <a:srgbClr val="21212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Научный</a:t>
            </a: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руководитель: </a:t>
            </a:r>
            <a:r>
              <a:rPr lang="en-US" sz="20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канд. физ.–мат. наук, доц. О.В. </a:t>
            </a:r>
            <a:r>
              <a:rPr lang="en-US" sz="2000" b="1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Гаркуша</a:t>
            </a:r>
            <a:endParaRPr lang="ru-RU" sz="2000" b="1" dirty="0">
              <a:solidFill>
                <a:srgbClr val="21212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Краснодар</a:t>
            </a: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10972800"/>
          </a:xfrm>
          <a:prstGeom prst="rect">
            <a:avLst/>
          </a:prstGeom>
          <a:solidFill>
            <a:srgbClr val="EAEA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179" y="1520309"/>
            <a:ext cx="5288042" cy="7932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5972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Актуальность и проблематика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219753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Малый и средний бизнес, работающий с клиентами через мессенджеры, сталкивается с рядом взаимосвязанных проблем: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93790" y="3055858"/>
            <a:ext cx="7556421" cy="1824276"/>
          </a:xfrm>
          <a:prstGeom prst="roundRect">
            <a:avLst>
              <a:gd name="adj" fmla="val 6015"/>
            </a:avLst>
          </a:prstGeom>
          <a:solidFill>
            <a:srgbClr val="F2F2F2"/>
          </a:solidFill>
          <a:ln w="22860">
            <a:solidFill>
              <a:srgbClr val="E2E2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0930" y="3055858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8" name="Text 5"/>
          <p:cNvSpPr/>
          <p:nvPr/>
        </p:nvSpPr>
        <p:spPr>
          <a:xfrm>
            <a:off x="1083588" y="3277076"/>
            <a:ext cx="28278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Разрозненные каналы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83588" y="3706297"/>
            <a:ext cx="7045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Клиенты пишут через WhatsApp, Telegram и Instagram — операторы вынуждены переключаться между приложениями, теряя часть обращений.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793790" y="5078492"/>
            <a:ext cx="7556421" cy="1506736"/>
          </a:xfrm>
          <a:prstGeom prst="roundRect">
            <a:avLst>
              <a:gd name="adj" fmla="val 7282"/>
            </a:avLst>
          </a:prstGeom>
          <a:solidFill>
            <a:srgbClr val="F2F2F2"/>
          </a:solidFill>
          <a:ln w="22860">
            <a:solidFill>
              <a:srgbClr val="E2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0930" y="5078492"/>
            <a:ext cx="91440" cy="1506736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2" name="Text 9"/>
          <p:cNvSpPr/>
          <p:nvPr/>
        </p:nvSpPr>
        <p:spPr>
          <a:xfrm>
            <a:off x="1083588" y="5220414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Однотипные вопросы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83588" y="5548513"/>
            <a:ext cx="70454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Значительная доля входящих сообщений — стоимость, расписание, адрес. Ручная обработка занимает рабочее время операторов.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93790" y="6783586"/>
            <a:ext cx="7556421" cy="1506736"/>
          </a:xfrm>
          <a:prstGeom prst="roundRect">
            <a:avLst>
              <a:gd name="adj" fmla="val 7282"/>
            </a:avLst>
          </a:prstGeom>
          <a:solidFill>
            <a:srgbClr val="F2F2F2"/>
          </a:solidFill>
          <a:ln w="22860">
            <a:solidFill>
              <a:srgbClr val="E2E2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0930" y="6783586"/>
            <a:ext cx="91440" cy="1506736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6" name="Text 13"/>
          <p:cNvSpPr/>
          <p:nvPr/>
        </p:nvSpPr>
        <p:spPr>
          <a:xfrm>
            <a:off x="1083588" y="7004804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Отсутствие истории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083588" y="7434024"/>
            <a:ext cx="70454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единой системы учёта невозможно отследить историю переписки и передать диалог между операторами.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793790" y="8488680"/>
            <a:ext cx="7556421" cy="1824276"/>
          </a:xfrm>
          <a:prstGeom prst="roundRect">
            <a:avLst>
              <a:gd name="adj" fmla="val 6015"/>
            </a:avLst>
          </a:prstGeom>
          <a:solidFill>
            <a:srgbClr val="F2F2F2"/>
          </a:solidFill>
          <a:ln w="22860">
            <a:solidFill>
              <a:srgbClr val="E2E2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0930" y="8488680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20" name="Text 17"/>
          <p:cNvSpPr/>
          <p:nvPr/>
        </p:nvSpPr>
        <p:spPr>
          <a:xfrm>
            <a:off x="1083588" y="8709898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Избыточность рынка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83588" y="9139118"/>
            <a:ext cx="7045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AmoCRM и Bitrix24 избыточны по функциональности и стоимости. Открытые платформы требуют сложной настройки и не имеют встроенной AI-автоматизации.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8183"/>
            <a:ext cx="9986505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6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Цель и </a:t>
            </a:r>
            <a:r>
              <a:rPr lang="en-US" sz="3600" dirty="0" err="1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задачи</a:t>
            </a:r>
            <a:r>
              <a:rPr lang="en-US" sz="36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</a:t>
            </a:r>
            <a:r>
              <a:rPr lang="en-US" sz="3600" dirty="0" err="1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проекта</a:t>
            </a:r>
            <a:r>
              <a:rPr lang="en-US" sz="36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: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72346" y="1440299"/>
            <a:ext cx="5885736" cy="8834199"/>
          </a:xfrm>
          <a:prstGeom prst="roundRect">
            <a:avLst>
              <a:gd name="adj" fmla="val 430"/>
            </a:avLst>
          </a:prstGeom>
          <a:solidFill>
            <a:srgbClr val="DCFF50"/>
          </a:solidFill>
          <a:ln/>
        </p:spPr>
      </p:sp>
      <p:sp>
        <p:nvSpPr>
          <p:cNvPr id="4" name="Text 2"/>
          <p:cNvSpPr/>
          <p:nvPr/>
        </p:nvSpPr>
        <p:spPr>
          <a:xfrm>
            <a:off x="840938" y="1583650"/>
            <a:ext cx="5548551" cy="727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Основная цель:</a:t>
            </a:r>
            <a:endParaRPr lang="en-US" sz="4550" dirty="0"/>
          </a:p>
        </p:txBody>
      </p:sp>
      <p:sp>
        <p:nvSpPr>
          <p:cNvPr id="5" name="Text 3"/>
          <p:cNvSpPr/>
          <p:nvPr/>
        </p:nvSpPr>
        <p:spPr>
          <a:xfrm>
            <a:off x="840938" y="2454473"/>
            <a:ext cx="554855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0938" y="2847499"/>
            <a:ext cx="5548551" cy="4638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Разработка многоканальной веб-платформы, объединяющей входящие сообщения из WhatsApp, Telegram и Instagram в едином операторском интерфейсе с интегрированным AI-чат-ботом для автоматической обработки типовых обращений и механизмом передачи диалога живому оператору.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840938" y="7629763"/>
            <a:ext cx="554855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0938" y="7762875"/>
            <a:ext cx="5548551" cy="2108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На основе этой цели был создан соответствующий RoadMap: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338435" y="1601510"/>
            <a:ext cx="22860" cy="8284845"/>
          </a:xfrm>
          <a:prstGeom prst="roundRect">
            <a:avLst>
              <a:gd name="adj" fmla="val 110698"/>
            </a:avLst>
          </a:prstGeom>
          <a:solidFill>
            <a:srgbClr val="E2E2E2"/>
          </a:solidFill>
          <a:ln/>
        </p:spPr>
      </p:sp>
      <p:sp>
        <p:nvSpPr>
          <p:cNvPr id="10" name="Shape 8"/>
          <p:cNvSpPr/>
          <p:nvPr/>
        </p:nvSpPr>
        <p:spPr>
          <a:xfrm>
            <a:off x="10035421" y="1779865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E2E2E2"/>
          </a:solidFill>
          <a:ln/>
        </p:spPr>
      </p:sp>
      <p:sp>
        <p:nvSpPr>
          <p:cNvPr id="11" name="Shape 9"/>
          <p:cNvSpPr/>
          <p:nvPr/>
        </p:nvSpPr>
        <p:spPr>
          <a:xfrm>
            <a:off x="10286643" y="1728073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5738" y="1656277"/>
            <a:ext cx="2819400" cy="1191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Изучить API мессенджеров и принципы webhook-интеграций</a:t>
            </a:r>
            <a:endParaRPr lang="en-US" sz="2000" dirty="0"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327005" y="2741295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E2E2E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86643" y="2689503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4592" y="2617708"/>
            <a:ext cx="2819519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Спроектировать БД и REST API (5 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моделей</a:t>
            </a: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)</a:t>
            </a:r>
          </a:p>
        </p:txBody>
      </p:sp>
      <p:sp>
        <p:nvSpPr>
          <p:cNvPr id="16" name="Shape 14"/>
          <p:cNvSpPr/>
          <p:nvPr/>
        </p:nvSpPr>
        <p:spPr>
          <a:xfrm>
            <a:off x="10035421" y="3586758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E2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86643" y="3534966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5738" y="3463171"/>
            <a:ext cx="281940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950"/>
              </a:lnSpc>
            </a:pP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Реализовать бэкенд на FastAPI с JWT и CSRF-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защитой</a:t>
            </a:r>
            <a:endParaRPr lang="en-US" sz="2000" dirty="0">
              <a:solidFill>
                <a:srgbClr val="212121"/>
              </a:solidFill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327005" y="4432340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E2E2E2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86643" y="4380548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21" name="Text 19"/>
          <p:cNvSpPr/>
          <p:nvPr/>
        </p:nvSpPr>
        <p:spPr>
          <a:xfrm>
            <a:off x="11024592" y="4308753"/>
            <a:ext cx="2819519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195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Реализовать Redis-буферизацию 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входящих</a:t>
            </a: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 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сообщений</a:t>
            </a:r>
            <a:endParaRPr lang="en-US" sz="2000" dirty="0">
              <a:solidFill>
                <a:srgbClr val="212121"/>
              </a:solidFill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035421" y="5277922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E2E2E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86643" y="5226129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5738" y="5154335"/>
            <a:ext cx="281940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950"/>
              </a:lnSpc>
            </a:pP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Разработать AI-чат-бота с 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интеграцией</a:t>
            </a: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 n8n</a:t>
            </a:r>
          </a:p>
        </p:txBody>
      </p:sp>
      <p:sp>
        <p:nvSpPr>
          <p:cNvPr id="25" name="Shape 23"/>
          <p:cNvSpPr/>
          <p:nvPr/>
        </p:nvSpPr>
        <p:spPr>
          <a:xfrm>
            <a:off x="10327005" y="6123503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E2E2E2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86643" y="6071711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27" name="Text 25"/>
          <p:cNvSpPr/>
          <p:nvPr/>
        </p:nvSpPr>
        <p:spPr>
          <a:xfrm>
            <a:off x="11024592" y="5999917"/>
            <a:ext cx="2819519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Реализовать реалтайм-обновления 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через</a:t>
            </a: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 WebSocket</a:t>
            </a:r>
          </a:p>
        </p:txBody>
      </p:sp>
      <p:sp>
        <p:nvSpPr>
          <p:cNvPr id="28" name="Shape 26"/>
          <p:cNvSpPr/>
          <p:nvPr/>
        </p:nvSpPr>
        <p:spPr>
          <a:xfrm>
            <a:off x="10035421" y="6969085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E2E2E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86643" y="6917293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5738" y="6845498"/>
            <a:ext cx="281940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950"/>
              </a:lnSpc>
            </a:pP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Разработать React-фронтенд с 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трёхпанельным</a:t>
            </a: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 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интерфейсом</a:t>
            </a:r>
            <a:endParaRPr lang="en-US" sz="2000" dirty="0">
              <a:solidFill>
                <a:srgbClr val="212121"/>
              </a:solidFill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327005" y="7814667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E2E2E2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86643" y="7762875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33" name="Text 31"/>
          <p:cNvSpPr/>
          <p:nvPr/>
        </p:nvSpPr>
        <p:spPr>
          <a:xfrm>
            <a:off x="11024592" y="7691080"/>
            <a:ext cx="2819519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195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Настроить Docker Compose и 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продовое</a:t>
            </a: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 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окружение</a:t>
            </a:r>
            <a:endParaRPr lang="en-US" sz="2000" dirty="0">
              <a:solidFill>
                <a:srgbClr val="212121"/>
              </a:solidFill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035421" y="8660249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E2E2E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86643" y="8608457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36" name="Text 34"/>
          <p:cNvSpPr/>
          <p:nvPr/>
        </p:nvSpPr>
        <p:spPr>
          <a:xfrm>
            <a:off x="6855738" y="8536662"/>
            <a:ext cx="281940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r">
              <a:lnSpc>
                <a:spcPts val="195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Подготовить материалы к защите 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курсового</a:t>
            </a:r>
            <a:r>
              <a:rPr lang="en-US" sz="20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 </a:t>
            </a:r>
            <a:r>
              <a:rPr lang="en-US" sz="2000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проекта</a:t>
            </a:r>
            <a:endParaRPr lang="en-US" sz="2000" dirty="0">
              <a:solidFill>
                <a:srgbClr val="212121"/>
              </a:solidFill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1557" y="1057165"/>
            <a:ext cx="7807285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00"/>
              </a:lnSpc>
              <a:buNone/>
            </a:pPr>
            <a:r>
              <a:rPr lang="en-US" sz="53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Архитектура системы</a:t>
            </a:r>
            <a:endParaRPr lang="en-US" sz="5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40" y="2479715"/>
            <a:ext cx="10485120" cy="585216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640" y="2479715"/>
            <a:ext cx="10485120" cy="58521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8629531"/>
            <a:ext cx="13042821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Система состоит из 5 Docker-контейнеров: PostgreSQL, Redis, бэкенд (FastAPI), фронтенд (Nginx + React) и n8n. Все компоненты независимы и масштабируются горизонтально без изменения остальных сервисов.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6955"/>
            <a:ext cx="8218170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Технологический стек</a:t>
            </a:r>
            <a:endParaRPr lang="en-US" sz="5350" dirty="0"/>
          </a:p>
        </p:txBody>
      </p:sp>
      <p:sp>
        <p:nvSpPr>
          <p:cNvPr id="3" name="Shape 1"/>
          <p:cNvSpPr/>
          <p:nvPr/>
        </p:nvSpPr>
        <p:spPr>
          <a:xfrm>
            <a:off x="793790" y="2733675"/>
            <a:ext cx="6279356" cy="5146119"/>
          </a:xfrm>
          <a:prstGeom prst="roundRect">
            <a:avLst>
              <a:gd name="adj" fmla="val 62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867978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Компонент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35636" y="2867978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Технология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9768" y="3525917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Язык бэкенда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135636" y="3525917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3.12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9768" y="4183856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Веб-фреймворк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135636" y="4183856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0.110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9768" y="4841796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База данных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135636" y="4841796"/>
            <a:ext cx="2731532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16 + asyncpg + SQLAlchemy 2.0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9768" y="6293644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Кэш / буфер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135636" y="6293644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Redis 7 + redis[hiredis]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9768" y="6951583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Оркестратор бота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135636" y="6951583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n8n (self-hosted)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564874" y="2733675"/>
            <a:ext cx="6279356" cy="5146119"/>
          </a:xfrm>
          <a:prstGeom prst="roundRect">
            <a:avLst>
              <a:gd name="adj" fmla="val 57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0852" y="2867978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Компонент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906720" y="2867978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Технология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770852" y="3525917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Фронтенд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906720" y="3525917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18 + Vite 6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770852" y="4183856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Аутентификация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906720" y="4183856"/>
            <a:ext cx="2731532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python-jose (JWT) + passlib[bcrypt]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770852" y="5238750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Инфраструктура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906720" y="5238750"/>
            <a:ext cx="2731532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+ Docker Compose + Nginx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770852" y="6293644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Контроль версий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906720" y="6293644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+ GitHub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770852" y="6951583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Среда разработки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906720" y="6951583"/>
            <a:ext cx="2731532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 / PyCharm Community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793790" y="8326279"/>
            <a:ext cx="13042821" cy="1289566"/>
          </a:xfrm>
          <a:prstGeom prst="roundRect">
            <a:avLst>
              <a:gd name="adj" fmla="val 2309"/>
            </a:avLst>
          </a:prstGeom>
          <a:solidFill>
            <a:srgbClr val="183A13"/>
          </a:solidFill>
          <a:ln/>
        </p:spPr>
      </p:sp>
      <p:sp>
        <p:nvSpPr>
          <p:cNvPr id="31" name="Text 28"/>
          <p:cNvSpPr/>
          <p:nvPr/>
        </p:nvSpPr>
        <p:spPr>
          <a:xfrm>
            <a:off x="1277362" y="8562617"/>
            <a:ext cx="1207567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Весь стек построен на открытых лицензиях — итоговая стоимость инструментов составляет </a:t>
            </a:r>
            <a:r>
              <a:rPr lang="en-US" sz="2300" b="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 ₽</a:t>
            </a:r>
            <a:r>
              <a:rPr lang="en-US" sz="2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.</a:t>
            </a:r>
            <a:endParaRPr lang="en-US" sz="2300" dirty="0"/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93222B42-7183-403D-83D8-9ED09CDB9FB2}"/>
              </a:ext>
            </a:extLst>
          </p:cNvPr>
          <p:cNvCxnSpPr/>
          <p:nvPr/>
        </p:nvCxnSpPr>
        <p:spPr>
          <a:xfrm>
            <a:off x="3465095" y="2867978"/>
            <a:ext cx="0" cy="4877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11E3A0A-1702-4ED8-836F-13C0EF05F503}"/>
              </a:ext>
            </a:extLst>
          </p:cNvPr>
          <p:cNvCxnSpPr/>
          <p:nvPr/>
        </p:nvCxnSpPr>
        <p:spPr>
          <a:xfrm>
            <a:off x="7073146" y="2852725"/>
            <a:ext cx="0" cy="4877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D4A9FB8-04D2-4B0B-9715-EF178BA34F2C}"/>
              </a:ext>
            </a:extLst>
          </p:cNvPr>
          <p:cNvCxnSpPr/>
          <p:nvPr/>
        </p:nvCxnSpPr>
        <p:spPr>
          <a:xfrm>
            <a:off x="10494363" y="2799993"/>
            <a:ext cx="0" cy="4877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36EEE732-78F6-4419-B52E-8EF95CEE7DC4}"/>
              </a:ext>
            </a:extLst>
          </p:cNvPr>
          <p:cNvCxnSpPr/>
          <p:nvPr/>
        </p:nvCxnSpPr>
        <p:spPr>
          <a:xfrm>
            <a:off x="489284" y="2867978"/>
            <a:ext cx="0" cy="4877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7F5C3E2-AEBE-4FFF-92F1-04ABDAD4A9D2}"/>
              </a:ext>
            </a:extLst>
          </p:cNvPr>
          <p:cNvCxnSpPr/>
          <p:nvPr/>
        </p:nvCxnSpPr>
        <p:spPr>
          <a:xfrm>
            <a:off x="13377101" y="2852725"/>
            <a:ext cx="0" cy="4877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6266"/>
            <a:ext cx="774096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Функциональные возможности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73179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EAEAEA"/>
          </a:solidFill>
          <a:ln/>
        </p:spPr>
      </p:sp>
      <p:sp>
        <p:nvSpPr>
          <p:cNvPr id="4" name="Shape 2"/>
          <p:cNvSpPr/>
          <p:nvPr/>
        </p:nvSpPr>
        <p:spPr>
          <a:xfrm>
            <a:off x="2603778" y="2771537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7489" y="2935129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8620" y="3565208"/>
            <a:ext cx="31255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Приём webhook-событий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3994428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WhatsApp, Telegram, Instagram с верификацией подписей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2573179"/>
            <a:ext cx="4215408" cy="2254687"/>
          </a:xfrm>
          <a:prstGeom prst="roundRect">
            <a:avLst>
              <a:gd name="adj" fmla="val 1320"/>
            </a:avLst>
          </a:prstGeom>
          <a:solidFill>
            <a:srgbClr val="EAEAEA"/>
          </a:solidFill>
          <a:ln/>
        </p:spPr>
      </p:sp>
      <p:sp>
        <p:nvSpPr>
          <p:cNvPr id="9" name="Shape 6"/>
          <p:cNvSpPr/>
          <p:nvPr/>
        </p:nvSpPr>
        <p:spPr>
          <a:xfrm>
            <a:off x="7017425" y="2771537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1136" y="2935129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50042" y="3565208"/>
            <a:ext cx="253019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Redis-буферизация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05795" y="3994428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Объединение коротких сообщений за 5-секундное окно TTL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2573179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EAEAEA"/>
          </a:solidFill>
          <a:ln/>
        </p:spPr>
      </p:sp>
      <p:sp>
        <p:nvSpPr>
          <p:cNvPr id="14" name="Shape 10"/>
          <p:cNvSpPr/>
          <p:nvPr/>
        </p:nvSpPr>
        <p:spPr>
          <a:xfrm>
            <a:off x="11431191" y="2771537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94902" y="2935129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88335" y="35652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AI-чат-бот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19561" y="3994428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категорий типовых обращений + передача оператору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93790" y="5026223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EAEAEA"/>
          </a:solidFill>
          <a:ln/>
        </p:spPr>
      </p:sp>
      <p:sp>
        <p:nvSpPr>
          <p:cNvPr id="19" name="Shape 14"/>
          <p:cNvSpPr/>
          <p:nvPr/>
        </p:nvSpPr>
        <p:spPr>
          <a:xfrm>
            <a:off x="2603778" y="522458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67489" y="5388173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87448" y="6018252"/>
            <a:ext cx="28278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Управление каналами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992148" y="6447473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Создание, редактирование, включение/отключение каналов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5207437" y="5026223"/>
            <a:ext cx="4215408" cy="2254687"/>
          </a:xfrm>
          <a:prstGeom prst="roundRect">
            <a:avLst>
              <a:gd name="adj" fmla="val 1320"/>
            </a:avLst>
          </a:prstGeom>
          <a:solidFill>
            <a:srgbClr val="EAEAEA"/>
          </a:solidFill>
          <a:ln/>
        </p:spPr>
      </p:sp>
      <p:sp>
        <p:nvSpPr>
          <p:cNvPr id="24" name="Shape 18"/>
          <p:cNvSpPr/>
          <p:nvPr/>
        </p:nvSpPr>
        <p:spPr>
          <a:xfrm>
            <a:off x="7017425" y="522458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81136" y="5388173"/>
            <a:ext cx="267891" cy="2678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26800" y="6018252"/>
            <a:ext cx="29766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Управление диалогами</a:t>
            </a:r>
            <a:endParaRPr lang="en-US" sz="1950" dirty="0"/>
          </a:p>
        </p:txBody>
      </p:sp>
      <p:sp>
        <p:nvSpPr>
          <p:cNvPr id="27" name="Text 20"/>
          <p:cNvSpPr/>
          <p:nvPr/>
        </p:nvSpPr>
        <p:spPr>
          <a:xfrm>
            <a:off x="5405795" y="6447473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Фильтрация, история, отправка медиа, переключение бота</a:t>
            </a:r>
            <a:endParaRPr lang="en-US" sz="1550" dirty="0"/>
          </a:p>
        </p:txBody>
      </p:sp>
      <p:sp>
        <p:nvSpPr>
          <p:cNvPr id="28" name="Shape 21"/>
          <p:cNvSpPr/>
          <p:nvPr/>
        </p:nvSpPr>
        <p:spPr>
          <a:xfrm>
            <a:off x="9621203" y="5026223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EAEAEA"/>
          </a:solidFill>
          <a:ln/>
        </p:spPr>
      </p:sp>
      <p:sp>
        <p:nvSpPr>
          <p:cNvPr id="29" name="Shape 22"/>
          <p:cNvSpPr/>
          <p:nvPr/>
        </p:nvSpPr>
        <p:spPr>
          <a:xfrm>
            <a:off x="11431191" y="522458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94902" y="5388173"/>
            <a:ext cx="267891" cy="26789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389275" y="6018252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Реалтайм WebSocket</a:t>
            </a:r>
            <a:endParaRPr lang="en-US" sz="1950" dirty="0"/>
          </a:p>
        </p:txBody>
      </p:sp>
      <p:sp>
        <p:nvSpPr>
          <p:cNvPr id="32" name="Text 24"/>
          <p:cNvSpPr/>
          <p:nvPr/>
        </p:nvSpPr>
        <p:spPr>
          <a:xfrm>
            <a:off x="9819561" y="6447473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События new_message и new_conversation без перезагрузки</a:t>
            </a:r>
            <a:endParaRPr lang="en-US" sz="1550" dirty="0"/>
          </a:p>
        </p:txBody>
      </p:sp>
      <p:sp>
        <p:nvSpPr>
          <p:cNvPr id="33" name="Shape 25"/>
          <p:cNvSpPr/>
          <p:nvPr/>
        </p:nvSpPr>
        <p:spPr>
          <a:xfrm>
            <a:off x="793790" y="7479268"/>
            <a:ext cx="6422112" cy="1937147"/>
          </a:xfrm>
          <a:prstGeom prst="roundRect">
            <a:avLst>
              <a:gd name="adj" fmla="val 1537"/>
            </a:avLst>
          </a:prstGeom>
          <a:solidFill>
            <a:srgbClr val="EAEAEA"/>
          </a:solidFill>
          <a:ln/>
        </p:spPr>
      </p:sp>
      <p:sp>
        <p:nvSpPr>
          <p:cNvPr id="34" name="Shape 26"/>
          <p:cNvSpPr/>
          <p:nvPr/>
        </p:nvSpPr>
        <p:spPr>
          <a:xfrm>
            <a:off x="3707130" y="7677626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70841" y="7841218"/>
            <a:ext cx="267891" cy="26789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442091" y="8471297"/>
            <a:ext cx="31255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Аутентификация и роли</a:t>
            </a:r>
            <a:endParaRPr lang="en-US" sz="1950" dirty="0"/>
          </a:p>
        </p:txBody>
      </p:sp>
      <p:sp>
        <p:nvSpPr>
          <p:cNvPr id="37" name="Text 28"/>
          <p:cNvSpPr/>
          <p:nvPr/>
        </p:nvSpPr>
        <p:spPr>
          <a:xfrm>
            <a:off x="992148" y="8900517"/>
            <a:ext cx="60253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+ CSRF; роли admin / operator с разграничением прав</a:t>
            </a:r>
            <a:endParaRPr lang="en-US" sz="1550" dirty="0"/>
          </a:p>
        </p:txBody>
      </p:sp>
      <p:sp>
        <p:nvSpPr>
          <p:cNvPr id="38" name="Shape 29"/>
          <p:cNvSpPr/>
          <p:nvPr/>
        </p:nvSpPr>
        <p:spPr>
          <a:xfrm>
            <a:off x="7414260" y="7479268"/>
            <a:ext cx="6422231" cy="1937147"/>
          </a:xfrm>
          <a:prstGeom prst="roundRect">
            <a:avLst>
              <a:gd name="adj" fmla="val 1537"/>
            </a:avLst>
          </a:prstGeom>
          <a:solidFill>
            <a:srgbClr val="EAEAEA"/>
          </a:solidFill>
          <a:ln/>
        </p:spPr>
      </p:sp>
      <p:sp>
        <p:nvSpPr>
          <p:cNvPr id="39" name="Shape 30"/>
          <p:cNvSpPr/>
          <p:nvPr/>
        </p:nvSpPr>
        <p:spPr>
          <a:xfrm>
            <a:off x="10327719" y="7677626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91430" y="7841218"/>
            <a:ext cx="267891" cy="267891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384863" y="84712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Экспорт в XLSX</a:t>
            </a:r>
            <a:endParaRPr lang="en-US" sz="1950" dirty="0"/>
          </a:p>
        </p:txBody>
      </p:sp>
      <p:sp>
        <p:nvSpPr>
          <p:cNvPr id="42" name="Text 32"/>
          <p:cNvSpPr/>
          <p:nvPr/>
        </p:nvSpPr>
        <p:spPr>
          <a:xfrm>
            <a:off x="7612618" y="8900517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История диалогов с фильтрацией по дате и каналу (openpyxl)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1051"/>
            <a:ext cx="104205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Многоуровневая система безопасности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1708785"/>
            <a:ext cx="5212318" cy="8472845"/>
          </a:xfrm>
          <a:prstGeom prst="roundRect">
            <a:avLst>
              <a:gd name="adj" fmla="val 571"/>
            </a:avLst>
          </a:prstGeom>
          <a:solidFill>
            <a:srgbClr val="DCFF50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19071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Принцип защиты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9273" y="2358509"/>
            <a:ext cx="4815602" cy="446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Безопасность реализована на каждом уровне стека — от транспорта до бизнес-логики. Ни один запрос не проходит без проверки подлинности и целостности.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2086" y="1932027"/>
            <a:ext cx="3716774" cy="2644140"/>
          </a:xfrm>
          <a:prstGeom prst="roundRect">
            <a:avLst>
              <a:gd name="adj" fmla="val 1126"/>
            </a:avLst>
          </a:prstGeom>
          <a:solidFill>
            <a:srgbClr val="EAEAE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757" y="213038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6468" y="2293977"/>
            <a:ext cx="267891" cy="2678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07718" y="2924056"/>
            <a:ext cx="31255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JWT в httpOnly cookie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410444" y="3432572"/>
            <a:ext cx="332005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Токен недоступен из JavaScript; защита от XSS-атак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0127218" y="1932027"/>
            <a:ext cx="3716893" cy="2644140"/>
          </a:xfrm>
          <a:prstGeom prst="roundRect">
            <a:avLst>
              <a:gd name="adj" fmla="val 1126"/>
            </a:avLst>
          </a:prstGeom>
          <a:solidFill>
            <a:srgbClr val="EAEAEA"/>
          </a:solidFill>
          <a:ln/>
        </p:spPr>
      </p:sp>
      <p:sp>
        <p:nvSpPr>
          <p:cNvPr id="12" name="Shape 9"/>
          <p:cNvSpPr/>
          <p:nvPr/>
        </p:nvSpPr>
        <p:spPr>
          <a:xfrm>
            <a:off x="11688008" y="213038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51719" y="2293977"/>
            <a:ext cx="267891" cy="2678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325576" y="2924056"/>
            <a:ext cx="332017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CSRF-токен в заголовке X-CSRF-Token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10325576" y="3742730"/>
            <a:ext cx="332017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Защита от межсайтовых подделок запросов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12086" y="4774525"/>
            <a:ext cx="3716774" cy="2969062"/>
          </a:xfrm>
          <a:prstGeom prst="roundRect">
            <a:avLst>
              <a:gd name="adj" fmla="val 1003"/>
            </a:avLst>
          </a:prstGeom>
          <a:solidFill>
            <a:srgbClr val="EAEAEA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757" y="497288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6468" y="5136475"/>
            <a:ext cx="267891" cy="2678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0444" y="5766554"/>
            <a:ext cx="332005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Верификация webhook-подписей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6410444" y="6585228"/>
            <a:ext cx="332005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X-Hub-Signature-256 (Meta) и X-Telegram-Bot-Api-Secret-Token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10127218" y="4774525"/>
            <a:ext cx="3716893" cy="2969062"/>
          </a:xfrm>
          <a:prstGeom prst="roundRect">
            <a:avLst>
              <a:gd name="adj" fmla="val 1003"/>
            </a:avLst>
          </a:prstGeom>
          <a:solidFill>
            <a:srgbClr val="EAEAEA"/>
          </a:solidFill>
          <a:ln/>
        </p:spPr>
      </p:sp>
      <p:sp>
        <p:nvSpPr>
          <p:cNvPr id="22" name="Shape 17"/>
          <p:cNvSpPr/>
          <p:nvPr/>
        </p:nvSpPr>
        <p:spPr>
          <a:xfrm>
            <a:off x="11688008" y="497288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51719" y="5136475"/>
            <a:ext cx="267891" cy="2678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745153" y="57665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Ограничение CORS</a:t>
            </a:r>
            <a:endParaRPr lang="en-US" sz="1950" dirty="0"/>
          </a:p>
        </p:txBody>
      </p:sp>
      <p:sp>
        <p:nvSpPr>
          <p:cNvPr id="25" name="Text 19"/>
          <p:cNvSpPr/>
          <p:nvPr/>
        </p:nvSpPr>
        <p:spPr>
          <a:xfrm>
            <a:off x="10325576" y="6275070"/>
            <a:ext cx="3320177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Только продовый домен; защитные HTTP-заголовки (HSTS, X-Frame-Options, X-Content-Type-Options)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6212086" y="7941945"/>
            <a:ext cx="7632025" cy="2016443"/>
          </a:xfrm>
          <a:prstGeom prst="roundRect">
            <a:avLst>
              <a:gd name="adj" fmla="val 1476"/>
            </a:avLst>
          </a:prstGeom>
          <a:solidFill>
            <a:srgbClr val="EAEAEA"/>
          </a:solidFill>
          <a:ln/>
        </p:spPr>
      </p:sp>
      <p:sp>
        <p:nvSpPr>
          <p:cNvPr id="27" name="Shape 21"/>
          <p:cNvSpPr/>
          <p:nvPr/>
        </p:nvSpPr>
        <p:spPr>
          <a:xfrm>
            <a:off x="9730383" y="814030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4094" y="8303895"/>
            <a:ext cx="267891" cy="26789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88586" y="8933974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Лимит тела запроса</a:t>
            </a:r>
            <a:endParaRPr lang="en-US" sz="2400" dirty="0"/>
          </a:p>
        </p:txBody>
      </p:sp>
      <p:sp>
        <p:nvSpPr>
          <p:cNvPr id="30" name="Text 23"/>
          <p:cNvSpPr/>
          <p:nvPr/>
        </p:nvSpPr>
        <p:spPr>
          <a:xfrm>
            <a:off x="6410444" y="9442490"/>
            <a:ext cx="7235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Максимум 10 МБ — защита от атак переполнения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2232"/>
            <a:ext cx="71455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AI-чат-бот: как работает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852" y="2679144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1188" y="3838129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6034186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Передача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3771" y="3839352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369039" y="6034186"/>
            <a:ext cx="2399850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Маршрутизация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16964" y="3839352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603540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Анализ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17115" y="3839352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5" y="6035409"/>
            <a:ext cx="2119963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Буферизация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761880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Системный промпт</a:t>
            </a:r>
            <a:endParaRPr lang="en-US" sz="3900" dirty="0"/>
          </a:p>
        </p:txBody>
      </p:sp>
      <p:sp>
        <p:nvSpPr>
          <p:cNvPr id="13" name="Text 6"/>
          <p:cNvSpPr/>
          <p:nvPr/>
        </p:nvSpPr>
        <p:spPr>
          <a:xfrm>
            <a:off x="793790" y="8318183"/>
            <a:ext cx="130428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Содержится в ноде N8N и даёт ИИ полный контекст для взаимодействия с пользователем</a:t>
            </a:r>
            <a:endParaRPr lang="en-US" sz="3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3338"/>
            <a:ext cx="101228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Демонстрация: операторский дашборд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10251"/>
            <a:ext cx="13042821" cy="62849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8518446"/>
            <a:ext cx="4215289" cy="1461016"/>
          </a:xfrm>
          <a:prstGeom prst="roundRect">
            <a:avLst>
              <a:gd name="adj" fmla="val 2038"/>
            </a:avLst>
          </a:prstGeom>
          <a:solidFill>
            <a:srgbClr val="EAEAEA"/>
          </a:solidFill>
          <a:ln/>
        </p:spPr>
      </p:sp>
      <p:sp>
        <p:nvSpPr>
          <p:cNvPr id="5" name="Text 2"/>
          <p:cNvSpPr/>
          <p:nvPr/>
        </p:nvSpPr>
        <p:spPr>
          <a:xfrm>
            <a:off x="992148" y="87168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LeftPanel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2148" y="9146024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Список диалогов с фильтрацией по статусу и каналу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207437" y="8518446"/>
            <a:ext cx="4215408" cy="1461016"/>
          </a:xfrm>
          <a:prstGeom prst="roundRect">
            <a:avLst>
              <a:gd name="adj" fmla="val 2038"/>
            </a:avLst>
          </a:prstGeom>
          <a:solidFill>
            <a:srgbClr val="EAEAEA"/>
          </a:solidFill>
          <a:ln/>
        </p:spPr>
      </p:sp>
      <p:sp>
        <p:nvSpPr>
          <p:cNvPr id="8" name="Text 5"/>
          <p:cNvSpPr/>
          <p:nvPr/>
        </p:nvSpPr>
        <p:spPr>
          <a:xfrm>
            <a:off x="5405795" y="87168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ChatPanel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5405795" y="8987254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История переписки, отправка текста и медиафайлов / быстрые шаблоны</a:t>
            </a:r>
            <a:endParaRPr lang="en-US" sz="1600" dirty="0"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621203" y="8518446"/>
            <a:ext cx="4215289" cy="1461016"/>
          </a:xfrm>
          <a:prstGeom prst="roundRect">
            <a:avLst>
              <a:gd name="adj" fmla="val 2038"/>
            </a:avLst>
          </a:prstGeom>
          <a:solidFill>
            <a:srgbClr val="EAEAEA"/>
          </a:solidFill>
          <a:ln/>
        </p:spPr>
      </p:sp>
      <p:sp>
        <p:nvSpPr>
          <p:cNvPr id="11" name="Text 8"/>
          <p:cNvSpPr/>
          <p:nvPr/>
        </p:nvSpPr>
        <p:spPr>
          <a:xfrm>
            <a:off x="9819561" y="87168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RightPanel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819561" y="9146024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Детали </a:t>
            </a:r>
            <a:r>
              <a:rPr lang="en-US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клиента</a:t>
            </a:r>
            <a:r>
              <a:rPr lang="en-US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,</a:t>
            </a:r>
            <a:endParaRPr lang="ru-RU" dirty="0">
              <a:solidFill>
                <a:srgbClr val="212121"/>
              </a:solidFill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dirty="0" err="1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управление</a:t>
            </a:r>
            <a:r>
              <a:rPr lang="en-US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 ботом, </a:t>
            </a:r>
            <a:endParaRPr lang="en-US" dirty="0"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81395"/>
            <a:ext cx="13067586" cy="122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Демонстрация: управление каналами и настройки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2286833"/>
            <a:ext cx="13067586" cy="6305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407" y="9000530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ChannelsView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73787" y="9404152"/>
            <a:ext cx="629554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Создание и редактирование каналов. При добавлении Telegram-канала webhook регистрируется автоматически через </a:t>
            </a:r>
            <a:r>
              <a:rPr lang="en-US" dirty="0">
                <a:solidFill>
                  <a:srgbClr val="212121"/>
                </a:solidFill>
                <a:highlight>
                  <a:srgbClr val="E8E8E8"/>
                </a:highlight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setWebhook</a:t>
            </a:r>
            <a:r>
              <a:rPr lang="en-US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.</a:t>
            </a:r>
            <a:endParaRPr lang="en-US" dirty="0"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61064" y="9000530"/>
            <a:ext cx="4101227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SettingsView + TemplatesView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561064" y="9497973"/>
            <a:ext cx="629554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Управление системными параметрами и шаблонами быстрых ответов для ускорения работы операторов.</a:t>
            </a:r>
            <a:endParaRPr lang="en-US" dirty="0"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0453"/>
            <a:ext cx="80387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Демонстрация: Меню шаблонов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469827"/>
            <a:ext cx="13042821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Меню шаблонов позволяет операторам быстро выбирать и отправлять стандартные ответы, значительно ускоряя процесс коммуникации с клиентами и обеспечивая единообразие в ответах.</a:t>
            </a:r>
            <a:endParaRPr lang="en-US" sz="2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83694"/>
            <a:ext cx="13042821" cy="62768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9458206"/>
            <a:ext cx="1304282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Шаблоны можно создавать и редактировать, адаптируя их под различные сценарии взаимодействия.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8805"/>
            <a:ext cx="922960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Демонстрация: AI-бот в действии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313" y="1935718"/>
            <a:ext cx="7719774" cy="575321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7912179"/>
            <a:ext cx="4215289" cy="2141815"/>
          </a:xfrm>
          <a:prstGeom prst="roundRect">
            <a:avLst>
              <a:gd name="adj" fmla="val 1390"/>
            </a:avLst>
          </a:prstGeom>
          <a:solidFill>
            <a:srgbClr val="F2F2F2"/>
          </a:solidFill>
          <a:ln w="22860">
            <a:solidFill>
              <a:srgbClr val="E2E2E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5008" y="81333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Буферизация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15008" y="8443556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Несколько коротких сообщений за 5 сек объединяются в одно — качество ответов бота существенно выше</a:t>
            </a:r>
            <a:endParaRPr lang="en-US" dirty="0"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207437" y="7912179"/>
            <a:ext cx="4215408" cy="2141815"/>
          </a:xfrm>
          <a:prstGeom prst="roundRect">
            <a:avLst>
              <a:gd name="adj" fmla="val 1390"/>
            </a:avLst>
          </a:prstGeom>
          <a:solidFill>
            <a:srgbClr val="F2F2F2"/>
          </a:solidFill>
          <a:ln w="22860">
            <a:solidFill>
              <a:srgbClr val="E2E2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8655" y="81333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solidFill>
                  <a:srgbClr val="212121"/>
                </a:solidFill>
                <a:latin typeface="Roboto Mono Medium" pitchFamily="34" charset="0"/>
                <a:cs typeface="Roboto Mono Medium" pitchFamily="34" charset="-120"/>
              </a:rPr>
              <a:t>Знания ИИ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5428655" y="8562618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Приветствие · Цены · Бронирование · Адрес · Оплата · Оборудование · Запрос оператора · Прощание</a:t>
            </a:r>
            <a:endParaRPr lang="en-US" dirty="0"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621203" y="7912179"/>
            <a:ext cx="4215289" cy="2141815"/>
          </a:xfrm>
          <a:prstGeom prst="roundRect">
            <a:avLst>
              <a:gd name="adj" fmla="val 1390"/>
            </a:avLst>
          </a:prstGeom>
          <a:solidFill>
            <a:srgbClr val="F2F2F2"/>
          </a:solidFill>
          <a:ln w="22860">
            <a:solidFill>
              <a:srgbClr val="E2E2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42421" y="8133398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Передача оператору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842539" y="8443556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По запросу клиента или вручную — бот останавливается, оператор подключается мгновенно через WebSocket</a:t>
            </a:r>
            <a:endParaRPr lang="en-US" dirty="0"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FA6CEC2-68CA-46BC-96E3-1EDA28142D82}"/>
              </a:ext>
            </a:extLst>
          </p:cNvPr>
          <p:cNvSpPr/>
          <p:nvPr/>
        </p:nvSpPr>
        <p:spPr>
          <a:xfrm>
            <a:off x="705854" y="1605597"/>
            <a:ext cx="13154526" cy="885385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416D47-F93C-6D25-B3D3-C8533C626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092270"/>
            <a:ext cx="9235440" cy="79520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39220B-02D7-F3F0-24E7-5E59C8CCCB14}"/>
              </a:ext>
            </a:extLst>
          </p:cNvPr>
          <p:cNvSpPr txBox="1"/>
          <p:nvPr/>
        </p:nvSpPr>
        <p:spPr>
          <a:xfrm>
            <a:off x="2344189" y="685153"/>
            <a:ext cx="9942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Схема базы Данных</a:t>
            </a:r>
            <a:r>
              <a:rPr lang="en-US" sz="4000" dirty="0">
                <a:latin typeface="Roboto Mono Medium" panose="020B0604020202020204" charset="0"/>
                <a:ea typeface="Roboto Mono Medium" panose="020B0604020202020204" charset="0"/>
                <a:cs typeface="Roboto Mono Medium" panose="020B0604020202020204" charset="0"/>
              </a:rPr>
              <a:t>:</a:t>
            </a:r>
            <a:endParaRPr lang="ru-RU" sz="4000" dirty="0">
              <a:latin typeface="Roboto Mono Medium" panose="020B0604020202020204" charset="0"/>
              <a:ea typeface="Roboto Mono Medium" panose="020B0604020202020204" charset="0"/>
              <a:cs typeface="Roboto Mono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153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537210"/>
            <a:ext cx="6475928" cy="518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Демонстрация: воркфлоу N8N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81407" y="1191926"/>
            <a:ext cx="13067586" cy="102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Воркфлоу в N8N — это ядро, которое управляет логикой AI-чат-бота, </a:t>
            </a:r>
            <a:r>
              <a:rPr lang="en-US" sz="2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</a:t>
            </a: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ru-RU" sz="2400" dirty="0">
              <a:solidFill>
                <a:srgbClr val="21212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sz="2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приёма</a:t>
            </a: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сообщения до </a:t>
            </a:r>
            <a:r>
              <a:rPr lang="en-US" sz="2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формирования</a:t>
            </a: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ответа</a:t>
            </a: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или передачи диалога оператору</a:t>
            </a:r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81407" y="9108758"/>
            <a:ext cx="13067586" cy="22860"/>
          </a:xfrm>
          <a:prstGeom prst="roundRect">
            <a:avLst>
              <a:gd name="adj" fmla="val 108968"/>
            </a:avLst>
          </a:prstGeom>
          <a:solidFill>
            <a:srgbClr val="E2E2E2"/>
          </a:solidFill>
          <a:ln/>
        </p:spPr>
      </p:sp>
      <p:sp>
        <p:nvSpPr>
          <p:cNvPr id="6" name="Shape 3"/>
          <p:cNvSpPr/>
          <p:nvPr/>
        </p:nvSpPr>
        <p:spPr>
          <a:xfrm>
            <a:off x="3331369" y="8776692"/>
            <a:ext cx="22860" cy="332065"/>
          </a:xfrm>
          <a:prstGeom prst="roundRect">
            <a:avLst>
              <a:gd name="adj" fmla="val 108968"/>
            </a:avLst>
          </a:prstGeom>
          <a:solidFill>
            <a:srgbClr val="E2E2E2"/>
          </a:solidFill>
          <a:ln/>
        </p:spPr>
      </p:sp>
      <p:sp>
        <p:nvSpPr>
          <p:cNvPr id="7" name="Shape 4"/>
          <p:cNvSpPr/>
          <p:nvPr/>
        </p:nvSpPr>
        <p:spPr>
          <a:xfrm>
            <a:off x="3280529" y="9046488"/>
            <a:ext cx="124539" cy="124539"/>
          </a:xfrm>
          <a:prstGeom prst="roundRect">
            <a:avLst>
              <a:gd name="adj" fmla="val 367114"/>
            </a:avLst>
          </a:prstGeom>
          <a:solidFill>
            <a:srgbClr val="DCFF50"/>
          </a:solidFill>
          <a:ln/>
        </p:spPr>
      </p:sp>
      <p:sp>
        <p:nvSpPr>
          <p:cNvPr id="8" name="Text 5"/>
          <p:cNvSpPr/>
          <p:nvPr/>
        </p:nvSpPr>
        <p:spPr>
          <a:xfrm>
            <a:off x="2304931" y="7780020"/>
            <a:ext cx="2075736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Приём сообщения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47380" y="8122682"/>
            <a:ext cx="4790837" cy="48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N8N получает буферизированные сообщения от бэкенда FastAPI.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979557" y="9108758"/>
            <a:ext cx="22860" cy="332065"/>
          </a:xfrm>
          <a:prstGeom prst="roundRect">
            <a:avLst>
              <a:gd name="adj" fmla="val 108968"/>
            </a:avLst>
          </a:prstGeom>
          <a:solidFill>
            <a:srgbClr val="E2E2E2"/>
          </a:solidFill>
          <a:ln/>
        </p:spPr>
      </p:sp>
      <p:sp>
        <p:nvSpPr>
          <p:cNvPr id="11" name="Shape 8"/>
          <p:cNvSpPr/>
          <p:nvPr/>
        </p:nvSpPr>
        <p:spPr>
          <a:xfrm>
            <a:off x="5928717" y="9046488"/>
            <a:ext cx="124539" cy="124539"/>
          </a:xfrm>
          <a:prstGeom prst="roundRect">
            <a:avLst>
              <a:gd name="adj" fmla="val 367114"/>
            </a:avLst>
          </a:prstGeom>
          <a:solidFill>
            <a:srgbClr val="DCFF50"/>
          </a:solidFill>
          <a:ln/>
        </p:spPr>
      </p:sp>
      <p:sp>
        <p:nvSpPr>
          <p:cNvPr id="12" name="Text 9"/>
          <p:cNvSpPr/>
          <p:nvPr/>
        </p:nvSpPr>
        <p:spPr>
          <a:xfrm>
            <a:off x="4870132" y="9606915"/>
            <a:ext cx="2241709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Анализ AI-сервисом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595568" y="9949577"/>
            <a:ext cx="4790956" cy="48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Сообщение передаётся в AI-сервис для распознавания намерения и формирования ответа.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8627745" y="8776692"/>
            <a:ext cx="22860" cy="332065"/>
          </a:xfrm>
          <a:prstGeom prst="roundRect">
            <a:avLst>
              <a:gd name="adj" fmla="val 108968"/>
            </a:avLst>
          </a:prstGeom>
          <a:solidFill>
            <a:srgbClr val="E2E2E2"/>
          </a:solidFill>
          <a:ln/>
        </p:spPr>
      </p:sp>
      <p:sp>
        <p:nvSpPr>
          <p:cNvPr id="15" name="Shape 12"/>
          <p:cNvSpPr/>
          <p:nvPr/>
        </p:nvSpPr>
        <p:spPr>
          <a:xfrm>
            <a:off x="8576905" y="9046488"/>
            <a:ext cx="124539" cy="124539"/>
          </a:xfrm>
          <a:prstGeom prst="roundRect">
            <a:avLst>
              <a:gd name="adj" fmla="val 367114"/>
            </a:avLst>
          </a:prstGeom>
          <a:solidFill>
            <a:srgbClr val="DCFF50"/>
          </a:solidFill>
          <a:ln/>
        </p:spPr>
      </p:sp>
      <p:sp>
        <p:nvSpPr>
          <p:cNvPr id="16" name="Text 13"/>
          <p:cNvSpPr/>
          <p:nvPr/>
        </p:nvSpPr>
        <p:spPr>
          <a:xfrm>
            <a:off x="7601307" y="7780020"/>
            <a:ext cx="2075736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Бизнес-логика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243757" y="8122682"/>
            <a:ext cx="4790956" cy="48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N8N обрабатывает ответ AI, применяет дополнительные правила и определяет дальнейшие действия.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11276052" y="9108758"/>
            <a:ext cx="22860" cy="332065"/>
          </a:xfrm>
          <a:prstGeom prst="roundRect">
            <a:avLst>
              <a:gd name="adj" fmla="val 108968"/>
            </a:avLst>
          </a:prstGeom>
          <a:solidFill>
            <a:srgbClr val="E2E2E2"/>
          </a:solidFill>
          <a:ln/>
        </p:spPr>
      </p:sp>
      <p:sp>
        <p:nvSpPr>
          <p:cNvPr id="19" name="Shape 16"/>
          <p:cNvSpPr/>
          <p:nvPr/>
        </p:nvSpPr>
        <p:spPr>
          <a:xfrm>
            <a:off x="11225213" y="9046488"/>
            <a:ext cx="124539" cy="124539"/>
          </a:xfrm>
          <a:prstGeom prst="roundRect">
            <a:avLst>
              <a:gd name="adj" fmla="val 367114"/>
            </a:avLst>
          </a:prstGeom>
          <a:solidFill>
            <a:srgbClr val="DCFF50"/>
          </a:solidFill>
          <a:ln/>
        </p:spPr>
      </p:sp>
      <p:sp>
        <p:nvSpPr>
          <p:cNvPr id="20" name="Text 17"/>
          <p:cNvSpPr/>
          <p:nvPr/>
        </p:nvSpPr>
        <p:spPr>
          <a:xfrm>
            <a:off x="10228898" y="9606915"/>
            <a:ext cx="2117169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Отправка/Передача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892064" y="9949577"/>
            <a:ext cx="4790956" cy="48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Сформированный ответ отправляется пользователю или диалог помечается для оператора.</a:t>
            </a:r>
            <a:endParaRPr lang="en-US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B4DCCAC-83E2-D817-0EEB-87F37DA0E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879799"/>
            <a:ext cx="7772400" cy="55177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6753"/>
            <a:ext cx="5091708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Результаты проекта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2034897" y="2553057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540" y="1681043"/>
            <a:ext cx="2092881" cy="20928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045" y="4000024"/>
            <a:ext cx="240387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Мессенджер-канала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93790" y="4402098"/>
            <a:ext cx="4198382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 Business Cloud API, Telegram Bot API, Instagram Graph API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57117" y="2553057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10</a:t>
            </a:r>
            <a:endParaRPr lang="en-US" sz="2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760" y="1681043"/>
            <a:ext cx="2092881" cy="20928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36719" y="400002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API-роутеров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216009" y="4402098"/>
            <a:ext cx="4198382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auth, channels, conversations, messages, websocket, webhook, telegram_webhook, incoming, bot_reply, export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0879336" y="2553057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2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0979" y="1681043"/>
            <a:ext cx="2092881" cy="20928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58939" y="400002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Таблиц БД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638228" y="4402098"/>
            <a:ext cx="4198382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Channel, Conversation, Message, User, AppSettings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2034897" y="6561892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8</a:t>
            </a:r>
            <a:endParaRPr lang="en-US" sz="2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6540" y="5689878"/>
            <a:ext cx="2092881" cy="209288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14500" y="800885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Категорий бота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793790" y="8410932"/>
            <a:ext cx="4198382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Типовые обращения, покрытые AI-чат-ботом без участия оператора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6457117" y="6561892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2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760" y="5689878"/>
            <a:ext cx="2092881" cy="209288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42541" y="8008858"/>
            <a:ext cx="2545199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Docker-контейнеров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5216009" y="8410932"/>
            <a:ext cx="419838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Разворачиваются одной командой </a:t>
            </a:r>
            <a:r>
              <a:rPr lang="en-US" sz="2000" dirty="0">
                <a:solidFill>
                  <a:srgbClr val="212121"/>
                </a:solidFill>
                <a:highlight>
                  <a:srgbClr val="E8E8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10879336" y="6561892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 сек</a:t>
            </a:r>
            <a:endParaRPr lang="en-US" sz="27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0979" y="5689878"/>
            <a:ext cx="2092881" cy="209288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535483" y="8008858"/>
            <a:ext cx="240387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Окно буфера Redis</a:t>
            </a:r>
            <a:endParaRPr lang="en-US" sz="1850" dirty="0"/>
          </a:p>
        </p:txBody>
      </p:sp>
      <p:sp>
        <p:nvSpPr>
          <p:cNvPr id="26" name="Text 18"/>
          <p:cNvSpPr/>
          <p:nvPr/>
        </p:nvSpPr>
        <p:spPr>
          <a:xfrm>
            <a:off x="9638228" y="8410932"/>
            <a:ext cx="4198382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TTL объединения коротких сообщений перед передачей боту</a:t>
            </a:r>
            <a:endParaRPr lang="en-US" sz="2000" dirty="0"/>
          </a:p>
        </p:txBody>
      </p:sp>
      <p:sp>
        <p:nvSpPr>
          <p:cNvPr id="27" name="Shape 19"/>
          <p:cNvSpPr/>
          <p:nvPr/>
        </p:nvSpPr>
        <p:spPr>
          <a:xfrm>
            <a:off x="793790" y="9216033"/>
            <a:ext cx="13042821" cy="1069896"/>
          </a:xfrm>
          <a:prstGeom prst="roundRect">
            <a:avLst>
              <a:gd name="adj" fmla="val 2643"/>
            </a:avLst>
          </a:prstGeom>
          <a:solidFill>
            <a:srgbClr val="183A13"/>
          </a:solidFill>
          <a:ln/>
        </p:spPr>
      </p:sp>
      <p:sp>
        <p:nvSpPr>
          <p:cNvPr id="29" name="Text 20"/>
          <p:cNvSpPr/>
          <p:nvPr/>
        </p:nvSpPr>
        <p:spPr>
          <a:xfrm>
            <a:off x="1406366" y="9442133"/>
            <a:ext cx="12241768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Бэкенд реализован на </a:t>
            </a:r>
            <a:r>
              <a:rPr lang="en-US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полностью асинхронном стеке</a:t>
            </a:r>
            <a:r>
              <a:rPr lang="en-US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(asyncio + asyncpg + aioredis) — тысячи одновременных соединений без блокирующих операций ввода-вывода.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06842"/>
            <a:ext cx="922960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Дальнейшее развитие функционала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4621411"/>
            <a:ext cx="4215289" cy="3479852"/>
          </a:xfrm>
          <a:prstGeom prst="roundRect">
            <a:avLst>
              <a:gd name="adj" fmla="val 3604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4598551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5" name="Shape 3"/>
          <p:cNvSpPr/>
          <p:nvPr/>
        </p:nvSpPr>
        <p:spPr>
          <a:xfrm>
            <a:off x="2603778" y="432375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DCFF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2372" y="4502348"/>
            <a:ext cx="238125" cy="238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008" y="5117544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Поддержка нескольких компаний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5856923"/>
            <a:ext cx="377285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Возможность создания и управления изолированными рабочими пространствами для разных организаций или отделов в рамках одной платформы.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207437" y="4621411"/>
            <a:ext cx="4215408" cy="3479852"/>
          </a:xfrm>
          <a:prstGeom prst="roundRect">
            <a:avLst>
              <a:gd name="adj" fmla="val 3604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5207437" y="4598551"/>
            <a:ext cx="4215408" cy="91440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1" name="Shape 8"/>
          <p:cNvSpPr/>
          <p:nvPr/>
        </p:nvSpPr>
        <p:spPr>
          <a:xfrm>
            <a:off x="7017425" y="432375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DCFF5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6018" y="4502348"/>
            <a:ext cx="238125" cy="238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77972" y="5117544"/>
            <a:ext cx="32743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Встроенная CRM-система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5428655" y="5855255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Интегрированное управление клиентской базой, историей взаимодействий, статусами сделок и автоматизация процессов продаж.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9621203" y="4621410"/>
            <a:ext cx="4215289" cy="3479851"/>
          </a:xfrm>
          <a:prstGeom prst="roundRect">
            <a:avLst>
              <a:gd name="adj" fmla="val 3604"/>
            </a:avLst>
          </a:prstGeom>
          <a:solidFill>
            <a:srgbClr val="F2F2F2"/>
          </a:solidFill>
          <a:ln/>
        </p:spPr>
      </p:sp>
      <p:sp>
        <p:nvSpPr>
          <p:cNvPr id="16" name="Shape 12"/>
          <p:cNvSpPr/>
          <p:nvPr/>
        </p:nvSpPr>
        <p:spPr>
          <a:xfrm>
            <a:off x="9621203" y="4598551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7" name="Shape 13"/>
          <p:cNvSpPr/>
          <p:nvPr/>
        </p:nvSpPr>
        <p:spPr>
          <a:xfrm>
            <a:off x="11431191" y="432375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DCFF5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9784" y="4502348"/>
            <a:ext cx="238125" cy="238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68376" y="5117544"/>
            <a:ext cx="37208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Интегрированный календарь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9868376" y="5871994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 для планирования встреч, задач, событий и напоминаний, синхронизированный с диалогами и операторами.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3599"/>
            <a:ext cx="68477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Ключевые выводы проекта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69369"/>
            <a:ext cx="13042821" cy="87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Разработанный</a:t>
            </a: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чат-агрегатор с AI-ботом трансформирует взаимодействие с </a:t>
            </a:r>
            <a:r>
              <a:rPr lang="en-US" sz="20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клиентами</a:t>
            </a: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endParaRPr lang="ru-RU" sz="2000" dirty="0">
              <a:solidFill>
                <a:srgbClr val="21212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обеспечивая эффективность и масштабируемость.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3756303"/>
            <a:ext cx="4215289" cy="2882384"/>
          </a:xfrm>
          <a:prstGeom prst="roundRect">
            <a:avLst>
              <a:gd name="adj" fmla="val 1033"/>
            </a:avLst>
          </a:pr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2603778" y="395466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7489" y="4118253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4206" y="4748332"/>
            <a:ext cx="32743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Автоматизация запросов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2148" y="517755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AI-бот обрабатывает до 80% типовых обращений, снижая нагрузку на операторов.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207437" y="3756303"/>
            <a:ext cx="4215408" cy="2882384"/>
          </a:xfrm>
          <a:prstGeom prst="roundRect">
            <a:avLst>
              <a:gd name="adj" fmla="val 1033"/>
            </a:avLst>
          </a:prstGeom>
          <a:solidFill>
            <a:srgbClr val="EAEAEA"/>
          </a:solidFill>
          <a:ln/>
        </p:spPr>
      </p:sp>
      <p:sp>
        <p:nvSpPr>
          <p:cNvPr id="10" name="Shape 7"/>
          <p:cNvSpPr/>
          <p:nvPr/>
        </p:nvSpPr>
        <p:spPr>
          <a:xfrm>
            <a:off x="7017425" y="395466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1136" y="4118253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5795" y="4748332"/>
            <a:ext cx="381869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Единое окно для всех каналов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05795" y="5487710"/>
            <a:ext cx="38186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Объединение WhatsApp, Telegram и Instagram в одном интерфейсе для удобства работы.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9621203" y="3756303"/>
            <a:ext cx="4215289" cy="2882384"/>
          </a:xfrm>
          <a:prstGeom prst="roundRect">
            <a:avLst>
              <a:gd name="adj" fmla="val 1033"/>
            </a:avLst>
          </a:prstGeom>
          <a:solidFill>
            <a:srgbClr val="EAEAEA"/>
          </a:solidFill>
          <a:ln/>
        </p:spPr>
      </p:sp>
      <p:sp>
        <p:nvSpPr>
          <p:cNvPr id="15" name="Shape 11"/>
          <p:cNvSpPr/>
          <p:nvPr/>
        </p:nvSpPr>
        <p:spPr>
          <a:xfrm>
            <a:off x="11431191" y="395466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94902" y="4118253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8376" y="4748332"/>
            <a:ext cx="37208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Надёжность и безопасность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19561" y="5177552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Многоуровневая система защиты данных и запросов на каждом этапе.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93790" y="6837045"/>
            <a:ext cx="13042702" cy="1937147"/>
          </a:xfrm>
          <a:prstGeom prst="roundRect">
            <a:avLst>
              <a:gd name="adj" fmla="val 1537"/>
            </a:avLst>
          </a:prstGeom>
          <a:solidFill>
            <a:srgbClr val="EAEAEA"/>
          </a:solidFill>
          <a:ln/>
        </p:spPr>
      </p:sp>
      <p:sp>
        <p:nvSpPr>
          <p:cNvPr id="20" name="Shape 15"/>
          <p:cNvSpPr/>
          <p:nvPr/>
        </p:nvSpPr>
        <p:spPr>
          <a:xfrm>
            <a:off x="7017425" y="703540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81136" y="7198995"/>
            <a:ext cx="267891" cy="2678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5842" y="7803789"/>
            <a:ext cx="40184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Гибкость и масштабируемость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992148" y="8258294"/>
            <a:ext cx="1264598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Технологический стек  позволяет легко адаптировать и развивать  систему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0527" y="4558546"/>
            <a:ext cx="11909227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750"/>
              </a:lnSpc>
              <a:buNone/>
            </a:pPr>
            <a:r>
              <a:rPr lang="en-US" sz="7800" dirty="0">
                <a:solidFill>
                  <a:srgbClr val="212121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Спасибо за внимание!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793790" y="609659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1090</Words>
  <Application>Microsoft Office PowerPoint</Application>
  <PresentationFormat>Произвольный</PresentationFormat>
  <Paragraphs>185</Paragraphs>
  <Slides>18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Consolas</vt:lpstr>
      <vt:lpstr>Calibri</vt:lpstr>
      <vt:lpstr>Roboto Mono Medium</vt:lpstr>
      <vt:lpstr>Arial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Алексей Савченко</cp:lastModifiedBy>
  <cp:revision>7</cp:revision>
  <dcterms:created xsi:type="dcterms:W3CDTF">2026-04-21T18:17:22Z</dcterms:created>
  <dcterms:modified xsi:type="dcterms:W3CDTF">2026-05-20T12:33:09Z</dcterms:modified>
</cp:coreProperties>
</file>